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5" r:id="rId3"/>
    <p:sldId id="257" r:id="rId4"/>
    <p:sldId id="258" r:id="rId5"/>
    <p:sldId id="259" r:id="rId6"/>
    <p:sldId id="260" r:id="rId7"/>
    <p:sldId id="261" r:id="rId8"/>
    <p:sldId id="262" r:id="rId9"/>
    <p:sldId id="263"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04" d="100"/>
          <a:sy n="104" d="100"/>
        </p:scale>
        <p:origin x="232"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5596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thesis, not the agenda: the waterfront flag is not what makes a house expensive here — the view grade is. Two numbers frame everything that follows, 30 days to sign and 12 months to exit. Say the evidence is 17,335 King County sales, cleaned first, and the method is deliberately descriptive: counts, medians, group comparisons, maps. No regression. Ten minutes, roughly one per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A9075-875C-511D-DFB7-4619182289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847C3-4F46-1A21-8F98-F1266D2DD9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146031-05A4-969B-F774-D79E885209DF}"/>
              </a:ext>
            </a:extLst>
          </p:cNvPr>
          <p:cNvSpPr>
            <a:spLocks noGrp="1"/>
          </p:cNvSpPr>
          <p:nvPr>
            <p:ph type="body" idx="1"/>
          </p:nvPr>
        </p:nvSpPr>
        <p:spPr/>
        <p:txBody>
          <a:bodyPr/>
          <a:lstStyle/>
          <a:p>
            <a:r>
              <a:rPr lang="en-US" dirty="0"/>
              <a:t>Open with the thesis, not the agenda: the waterfront flag is not what makes a house expensive here — the view grade is. Two numbers frame everything that follows, 30 days to sign and 12 months to exit. Say the evidence is 17,335 King County sales, cleaned first, and the method is deliberately descriptive: counts, medians, group comparisons, maps. No regression. Ten minutes, roughly one per slide.</a:t>
            </a:r>
          </a:p>
        </p:txBody>
      </p:sp>
      <p:sp>
        <p:nvSpPr>
          <p:cNvPr id="4" name="Slide Number Placeholder 3">
            <a:extLst>
              <a:ext uri="{FF2B5EF4-FFF2-40B4-BE49-F238E27FC236}">
                <a16:creationId xmlns:a16="http://schemas.microsoft.com/office/drawing/2014/main" id="{84B860A4-AB1C-CF04-4B46-F4B73DA78EA7}"/>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929206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brief as a filter, not a wish list. The 30-day window removes renovation projects outright. The 12-month exit means we optimise for resale demand rather than long-run growth. Everything on the following slides is downstream of these three tiles — and the third one is a client constraint, not a finding, which matters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seconds on this slide. The only point worth making aloud: the first two are fields in the data, the last two are lines we drew ourselves. The top-1% cut and the 5 km ring are choices, so they are the first things to revisit if a result looks strange — and one of them does later. Turnkey is not on this slide because the data has no column for renovation quality.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claim matches one of the client's criteria, so none is academic. Flag that H1 and H2 can pull apart: a waterfront address graded 0 for view may sell below an inland house graded 4, which is exactly why they are tested separately rather than merged into a single premium. That separation turns out to be the whole finding.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1 is the assumption to declare out loud: filling 2,391 blanks with 0 enlarges the non-waterfront group, so if any of those were genuinely on the water, the premium on the next slide is understated. Card 2 breaks down as 3,848 missing renovation years, 452 basement areas and 63 view grades — dropped rather than imputed, which costs about one row in five but keeps comparisons clean. Card 3 is a known gap: the de-duplication is written but the working set was taken before it was applied, so fix that line before this goes in front of anyone. Card 4: thirty days does not allow for a model nobody has time to validate.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two boxes are the middle half of each group, the line inside is the median. Right: how the 116 waterfront sales spread out, from 285 thousand to just over 7 million. Lead with the median, not the mean — a few very large sales pull the waterfront average to 1.72 million against 533 thousand inland, but the median is the number that survives questioning. The caveat to volunteer is sample size: 116 waterfront homes against 17,219 inland, so a handful of atypical sales moves this comparison.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changes the search brief, so give it the most time. The hypothesis holds in direction but not in shape: grade 0 averages about half a million, grades 1 and 2 sit level around 0.8 million, grade 3 adds little, and the price band only moves at grade 4. So "a better view" is not automatically worth money — one specific step is. Expect the question of how many grade 4 homes exist and how many are also waterfront; flag that cross-tabulation as the next thing to run.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directional evidence, not a settled result. What it does establish is where to search: an arc running north and north-west of the marker, roughly 5 to 20 km out. What it cannot establish is the centre-versus-suburb claim, because 16,517 of 17,335 homes land outside the ring and the reference point at 47.506 north, 122.152 west sits well east of downtown. If challenged on whether this kills the recommendation, the answer is no — the cluster is visible wherever the marker sits; only the inside-versus-outside wording depends on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sequencing: turnkey is the filter applied first because it is non-negotiable, grade 4 ranks whatever survives it, and the northern arc breaks the remaining ties. Be explicit that move 3 rests on her deadline and not on the analysis — it is the one recommendation the data did not produce. Leave a minute for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accent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Autofit/>
          </a:bodyPr>
          <a:lstStyle/>
          <a:p>
            <a:pPr marL="0" indent="0" algn="l">
              <a:lnSpc>
                <a:spcPts val="1820"/>
              </a:lnSpc>
              <a:buNone/>
            </a:pPr>
            <a:r>
              <a:rPr lang="en-US" sz="2800" b="1" kern="0" spc="300" dirty="0">
                <a:solidFill>
                  <a:srgbClr val="002060"/>
                </a:solidFill>
                <a:latin typeface="Inter" pitchFamily="34" charset="0"/>
                <a:ea typeface="Inter" pitchFamily="34" charset="-122"/>
                <a:cs typeface="Inter" pitchFamily="34" charset="-120"/>
              </a:rPr>
              <a:t>Ram Babu Gupta GmbH</a:t>
            </a:r>
            <a:endParaRPr lang="en-US" sz="2800" dirty="0">
              <a:solidFill>
                <a:srgbClr val="002060"/>
              </a:solidFill>
            </a:endParaRPr>
          </a:p>
        </p:txBody>
      </p:sp>
      <p:sp>
        <p:nvSpPr>
          <p:cNvPr id="3" name="Text 1"/>
          <p:cNvSpPr/>
          <p:nvPr/>
        </p:nvSpPr>
        <p:spPr>
          <a:xfrm>
            <a:off x="812800" y="2508422"/>
            <a:ext cx="10883392" cy="2204778"/>
          </a:xfrm>
          <a:prstGeom prst="rect">
            <a:avLst/>
          </a:prstGeom>
          <a:solidFill>
            <a:schemeClr val="accent1"/>
          </a:solidFill>
          <a:ln/>
        </p:spPr>
        <p:txBody>
          <a:bodyPr wrap="square" lIns="0" tIns="0" rIns="0" bIns="0" rtlCol="0" anchor="t">
            <a:normAutofit/>
          </a:bodyPr>
          <a:lstStyle/>
          <a:p>
            <a:pPr>
              <a:lnSpc>
                <a:spcPts val="1820"/>
              </a:lnSpc>
            </a:pPr>
            <a:r>
              <a:rPr lang="en-US" sz="8000" dirty="0">
                <a:solidFill>
                  <a:schemeClr val="accent4"/>
                </a:solidFill>
              </a:rPr>
              <a:t>We Sell Happiness</a:t>
            </a:r>
          </a:p>
        </p:txBody>
      </p:sp>
      <p:sp>
        <p:nvSpPr>
          <p:cNvPr id="4" name="Text 2"/>
          <p:cNvSpPr/>
          <p:nvPr/>
        </p:nvSpPr>
        <p:spPr>
          <a:xfrm>
            <a:off x="812800" y="5476230"/>
            <a:ext cx="4970780" cy="594320"/>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sp>
        <p:nvSpPr>
          <p:cNvPr id="16" name="Text 2">
            <a:extLst>
              <a:ext uri="{FF2B5EF4-FFF2-40B4-BE49-F238E27FC236}">
                <a16:creationId xmlns:a16="http://schemas.microsoft.com/office/drawing/2014/main" id="{ECF1CAD3-3F99-EC9B-C89D-F3559939B59C}"/>
              </a:ext>
            </a:extLst>
          </p:cNvPr>
          <p:cNvSpPr/>
          <p:nvPr/>
        </p:nvSpPr>
        <p:spPr>
          <a:xfrm>
            <a:off x="965200" y="5628630"/>
            <a:ext cx="497078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C2D0F"/>
                </a:solidFill>
                <a:latin typeface="Inter" pitchFamily="34" charset="0"/>
                <a:ea typeface="Inter" pitchFamily="34" charset="-122"/>
                <a:cs typeface="Inter" pitchFamily="34" charset="-120"/>
              </a:rPr>
              <a:t>High-end acquisition strategy</a:t>
            </a:r>
            <a:endParaRPr lang="en-US" sz="1600" dirty="0"/>
          </a:p>
          <a:p>
            <a:pPr marL="0" indent="0" algn="l">
              <a:lnSpc>
                <a:spcPts val="2240"/>
              </a:lnSpc>
              <a:buNone/>
            </a:pPr>
            <a:r>
              <a:rPr lang="en-US" sz="1600" dirty="0">
                <a:solidFill>
                  <a:srgbClr val="5C2D0F"/>
                </a:solidFill>
                <a:latin typeface="Inter" pitchFamily="34" charset="0"/>
                <a:ea typeface="Inter" pitchFamily="34" charset="-122"/>
                <a:cs typeface="Inter" pitchFamily="34" charset="-120"/>
              </a:rPr>
              <a:t>for Jennifer Montgomery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07A3F"/>
        </a:solidFill>
        <a:effectLst/>
      </p:bgPr>
    </p:bg>
    <p:spTree>
      <p:nvGrpSpPr>
        <p:cNvPr id="1" name="">
          <a:extLst>
            <a:ext uri="{FF2B5EF4-FFF2-40B4-BE49-F238E27FC236}">
              <a16:creationId xmlns:a16="http://schemas.microsoft.com/office/drawing/2014/main" id="{66850B04-4A50-AD04-AFD9-6D88571DB2A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5613482-3A77-1903-6BB6-D922E22717CA}"/>
              </a:ext>
            </a:extLst>
          </p:cNvPr>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300" dirty="0">
                <a:solidFill>
                  <a:srgbClr val="5C2D0F"/>
                </a:solidFill>
                <a:latin typeface="Inter" pitchFamily="34" charset="0"/>
                <a:ea typeface="Inter" pitchFamily="34" charset="-122"/>
                <a:cs typeface="Inter" pitchFamily="34" charset="-120"/>
              </a:rPr>
              <a:t>KING COUNTY · 17,116 SALES</a:t>
            </a:r>
            <a:endParaRPr lang="en-US" sz="1300" dirty="0"/>
          </a:p>
        </p:txBody>
      </p:sp>
      <p:sp>
        <p:nvSpPr>
          <p:cNvPr id="3" name="Text 1">
            <a:extLst>
              <a:ext uri="{FF2B5EF4-FFF2-40B4-BE49-F238E27FC236}">
                <a16:creationId xmlns:a16="http://schemas.microsoft.com/office/drawing/2014/main" id="{388988D0-5858-CED4-0412-6DD544275B1F}"/>
              </a:ext>
            </a:extLst>
          </p:cNvPr>
          <p:cNvSpPr/>
          <p:nvPr/>
        </p:nvSpPr>
        <p:spPr>
          <a:xfrm>
            <a:off x="812800" y="1869430"/>
            <a:ext cx="10883392" cy="1892300"/>
          </a:xfrm>
          <a:prstGeom prst="rect">
            <a:avLst/>
          </a:prstGeom>
          <a:noFill/>
          <a:ln/>
        </p:spPr>
        <p:txBody>
          <a:bodyPr wrap="square" lIns="0" tIns="0" rIns="0" bIns="0" rtlCol="0" anchor="t">
            <a:normAutofit fontScale="92500"/>
          </a:bodyPr>
          <a:lstStyle/>
          <a:p>
            <a:pPr marL="0" indent="0" algn="l">
              <a:lnSpc>
                <a:spcPts val="7350"/>
              </a:lnSpc>
              <a:buNone/>
            </a:pPr>
            <a:r>
              <a:rPr lang="en-US" sz="7500" dirty="0">
                <a:solidFill>
                  <a:srgbClr val="10161B"/>
                </a:solidFill>
                <a:latin typeface="Archivo Black" pitchFamily="34" charset="0"/>
                <a:ea typeface="Archivo Black" pitchFamily="34" charset="-122"/>
                <a:cs typeface="Archivo Black" pitchFamily="34" charset="-120"/>
              </a:rPr>
              <a:t>The view,</a:t>
            </a:r>
            <a:endParaRPr lang="en-US" sz="7500" dirty="0"/>
          </a:p>
          <a:p>
            <a:pPr marL="0" indent="0" algn="l">
              <a:lnSpc>
                <a:spcPts val="7350"/>
              </a:lnSpc>
              <a:buNone/>
            </a:pPr>
            <a:r>
              <a:rPr lang="en-US" sz="7500" dirty="0">
                <a:solidFill>
                  <a:srgbClr val="10161B"/>
                </a:solidFill>
                <a:latin typeface="Archivo Black" pitchFamily="34" charset="0"/>
                <a:ea typeface="Archivo Black" pitchFamily="34" charset="-122"/>
                <a:cs typeface="Archivo Black" pitchFamily="34" charset="-120"/>
              </a:rPr>
              <a:t>not the address.</a:t>
            </a:r>
            <a:endParaRPr lang="en-US" sz="7500" dirty="0"/>
          </a:p>
        </p:txBody>
      </p:sp>
      <p:sp>
        <p:nvSpPr>
          <p:cNvPr id="4" name="Text 2">
            <a:extLst>
              <a:ext uri="{FF2B5EF4-FFF2-40B4-BE49-F238E27FC236}">
                <a16:creationId xmlns:a16="http://schemas.microsoft.com/office/drawing/2014/main" id="{5BB7C397-DF8A-F358-321B-E384145100C5}"/>
              </a:ext>
            </a:extLst>
          </p:cNvPr>
          <p:cNvSpPr/>
          <p:nvPr/>
        </p:nvSpPr>
        <p:spPr>
          <a:xfrm>
            <a:off x="812800" y="5476230"/>
            <a:ext cx="497078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C2D0F"/>
                </a:solidFill>
                <a:latin typeface="Inter" pitchFamily="34" charset="0"/>
                <a:ea typeface="Inter" pitchFamily="34" charset="-122"/>
                <a:cs typeface="Inter" pitchFamily="34" charset="-120"/>
              </a:rPr>
              <a:t>High-end acquisition strategy</a:t>
            </a:r>
            <a:endParaRPr lang="en-US" sz="1600" dirty="0"/>
          </a:p>
          <a:p>
            <a:pPr marL="0" indent="0" algn="l">
              <a:lnSpc>
                <a:spcPts val="2240"/>
              </a:lnSpc>
              <a:buNone/>
            </a:pPr>
            <a:r>
              <a:rPr lang="en-US" sz="1600" dirty="0">
                <a:solidFill>
                  <a:srgbClr val="5C2D0F"/>
                </a:solidFill>
                <a:latin typeface="Inter" pitchFamily="34" charset="0"/>
                <a:ea typeface="Inter" pitchFamily="34" charset="-122"/>
                <a:cs typeface="Inter" pitchFamily="34" charset="-120"/>
              </a:rPr>
              <a:t>for Jennifer Montgomery</a:t>
            </a:r>
            <a:endParaRPr lang="en-US" sz="1600" dirty="0"/>
          </a:p>
        </p:txBody>
      </p:sp>
      <p:sp>
        <p:nvSpPr>
          <p:cNvPr id="5" name="Text 3">
            <a:extLst>
              <a:ext uri="{FF2B5EF4-FFF2-40B4-BE49-F238E27FC236}">
                <a16:creationId xmlns:a16="http://schemas.microsoft.com/office/drawing/2014/main" id="{73B7D357-AE47-5FC6-5FC8-984489A07A31}"/>
              </a:ext>
            </a:extLst>
          </p:cNvPr>
          <p:cNvSpPr/>
          <p:nvPr/>
        </p:nvSpPr>
        <p:spPr>
          <a:xfrm>
            <a:off x="6146800" y="5760690"/>
            <a:ext cx="335405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0161B"/>
                </a:solidFill>
                <a:latin typeface="Inter" pitchFamily="34" charset="0"/>
                <a:ea typeface="Inter" pitchFamily="34" charset="-122"/>
                <a:cs typeface="Inter" pitchFamily="34" charset="-120"/>
              </a:rPr>
              <a:t>30 days to buy · 12 months to sell</a:t>
            </a:r>
            <a:endParaRPr lang="en-US" sz="1600" dirty="0"/>
          </a:p>
        </p:txBody>
      </p:sp>
    </p:spTree>
    <p:extLst>
      <p:ext uri="{BB962C8B-B14F-4D97-AF65-F5344CB8AC3E}">
        <p14:creationId xmlns:p14="http://schemas.microsoft.com/office/powerpoint/2010/main" val="1241725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4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300" dirty="0">
                <a:solidFill>
                  <a:srgbClr val="C25D24"/>
                </a:solidFill>
                <a:latin typeface="Inter" pitchFamily="34" charset="0"/>
                <a:ea typeface="Inter" pitchFamily="34" charset="-122"/>
                <a:cs typeface="Inter" pitchFamily="34" charset="-120"/>
              </a:rPr>
              <a:t>THE BRIEF</a:t>
            </a:r>
            <a:endParaRPr lang="en-US" sz="1300" dirty="0"/>
          </a:p>
        </p:txBody>
      </p:sp>
      <p:sp>
        <p:nvSpPr>
          <p:cNvPr id="3" name="Text 1"/>
          <p:cNvSpPr/>
          <p:nvPr/>
        </p:nvSpPr>
        <p:spPr>
          <a:xfrm>
            <a:off x="812800" y="2296815"/>
            <a:ext cx="10883392" cy="532110"/>
          </a:xfrm>
          <a:prstGeom prst="rect">
            <a:avLst/>
          </a:prstGeom>
          <a:noFill/>
          <a:ln/>
        </p:spPr>
        <p:txBody>
          <a:bodyPr wrap="square" lIns="0" tIns="0" rIns="0" bIns="0" rtlCol="0" anchor="t">
            <a:normAutofit/>
          </a:bodyPr>
          <a:lstStyle/>
          <a:p>
            <a:pPr marL="0" indent="0" algn="l">
              <a:lnSpc>
                <a:spcPts val="3990"/>
              </a:lnSpc>
              <a:buNone/>
            </a:pPr>
            <a:r>
              <a:rPr lang="en-US" sz="3800" dirty="0">
                <a:solidFill>
                  <a:srgbClr val="10161B"/>
                </a:solidFill>
                <a:latin typeface="Archivo Black" pitchFamily="34" charset="0"/>
                <a:ea typeface="Archivo Black" pitchFamily="34" charset="-122"/>
                <a:cs typeface="Archivo Black" pitchFamily="34" charset="-120"/>
              </a:rPr>
              <a:t>Two deadlines decide everything.</a:t>
            </a:r>
            <a:endParaRPr lang="en-US" sz="3800" dirty="0"/>
          </a:p>
        </p:txBody>
      </p:sp>
      <p:sp>
        <p:nvSpPr>
          <p:cNvPr id="8" name="Shape 6"/>
          <p:cNvSpPr/>
          <p:nvPr/>
        </p:nvSpPr>
        <p:spPr>
          <a:xfrm>
            <a:off x="664696" y="4027215"/>
            <a:ext cx="3386683" cy="1785590"/>
          </a:xfrm>
          <a:prstGeom prst="roundRect">
            <a:avLst>
              <a:gd name="adj" fmla="val 7112"/>
            </a:avLst>
          </a:prstGeom>
          <a:solidFill>
            <a:srgbClr val="FFFFFF"/>
          </a:solidFill>
          <a:ln/>
        </p:spPr>
        <p:txBody>
          <a:bodyPr/>
          <a:lstStyle/>
          <a:p>
            <a:endParaRPr lang="en-DE"/>
          </a:p>
        </p:txBody>
      </p:sp>
      <p:sp>
        <p:nvSpPr>
          <p:cNvPr id="9" name="Text 7"/>
          <p:cNvSpPr/>
          <p:nvPr/>
        </p:nvSpPr>
        <p:spPr>
          <a:xfrm>
            <a:off x="1769363" y="4295355"/>
            <a:ext cx="2912720" cy="584200"/>
          </a:xfrm>
          <a:prstGeom prst="rect">
            <a:avLst/>
          </a:prstGeom>
          <a:noFill/>
          <a:ln/>
        </p:spPr>
        <p:txBody>
          <a:bodyPr wrap="square" lIns="0" tIns="0" rIns="0" bIns="0" rtlCol="0" anchor="t">
            <a:normAutofit/>
          </a:bodyPr>
          <a:lstStyle/>
          <a:p>
            <a:pPr marL="0" indent="0" algn="l">
              <a:lnSpc>
                <a:spcPts val="4400"/>
              </a:lnSpc>
              <a:buNone/>
            </a:pPr>
            <a:r>
              <a:rPr lang="en-US" sz="4400" dirty="0">
                <a:solidFill>
                  <a:srgbClr val="10161B"/>
                </a:solidFill>
                <a:latin typeface="Archivo Black" pitchFamily="34" charset="0"/>
                <a:ea typeface="Archivo Black" pitchFamily="34" charset="-122"/>
                <a:cs typeface="Archivo Black" pitchFamily="34" charset="-120"/>
              </a:rPr>
              <a:t>12</a:t>
            </a:r>
            <a:endParaRPr lang="en-US" sz="4400" dirty="0"/>
          </a:p>
        </p:txBody>
      </p:sp>
      <p:sp>
        <p:nvSpPr>
          <p:cNvPr id="10" name="Text 8"/>
          <p:cNvSpPr/>
          <p:nvPr/>
        </p:nvSpPr>
        <p:spPr>
          <a:xfrm>
            <a:off x="1536422" y="4946242"/>
            <a:ext cx="291272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161B"/>
                </a:solidFill>
                <a:latin typeface="Inter" pitchFamily="34" charset="0"/>
                <a:ea typeface="Inter" pitchFamily="34" charset="-122"/>
                <a:cs typeface="Inter" pitchFamily="34" charset="-120"/>
              </a:rPr>
              <a:t>months to resell</a:t>
            </a:r>
            <a:endParaRPr lang="en-US" sz="1500" dirty="0"/>
          </a:p>
        </p:txBody>
      </p:sp>
      <p:sp>
        <p:nvSpPr>
          <p:cNvPr id="11" name="Text 9"/>
          <p:cNvSpPr/>
          <p:nvPr/>
        </p:nvSpPr>
        <p:spPr>
          <a:xfrm>
            <a:off x="1138659" y="5176565"/>
            <a:ext cx="2912720" cy="274290"/>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
        <p:nvSpPr>
          <p:cNvPr id="12" name="Shape 10"/>
          <p:cNvSpPr/>
          <p:nvPr/>
        </p:nvSpPr>
        <p:spPr>
          <a:xfrm>
            <a:off x="5816577" y="4022879"/>
            <a:ext cx="3386683" cy="1785590"/>
          </a:xfrm>
          <a:prstGeom prst="roundRect">
            <a:avLst>
              <a:gd name="adj" fmla="val 7112"/>
            </a:avLst>
          </a:prstGeom>
          <a:solidFill>
            <a:srgbClr val="F7DCC6"/>
          </a:solidFill>
          <a:ln/>
        </p:spPr>
        <p:txBody>
          <a:bodyPr/>
          <a:lstStyle/>
          <a:p>
            <a:endParaRPr lang="en-DE"/>
          </a:p>
        </p:txBody>
      </p:sp>
      <p:sp>
        <p:nvSpPr>
          <p:cNvPr id="13" name="Text 11"/>
          <p:cNvSpPr/>
          <p:nvPr/>
        </p:nvSpPr>
        <p:spPr>
          <a:xfrm>
            <a:off x="7257083" y="4254900"/>
            <a:ext cx="2912720" cy="584200"/>
          </a:xfrm>
          <a:prstGeom prst="rect">
            <a:avLst/>
          </a:prstGeom>
          <a:noFill/>
          <a:ln/>
        </p:spPr>
        <p:txBody>
          <a:bodyPr wrap="square" lIns="0" tIns="0" rIns="0" bIns="0" rtlCol="0" anchor="t">
            <a:normAutofit/>
          </a:bodyPr>
          <a:lstStyle/>
          <a:p>
            <a:pPr marL="0" indent="0" algn="l">
              <a:lnSpc>
                <a:spcPts val="4400"/>
              </a:lnSpc>
              <a:buNone/>
            </a:pPr>
            <a:r>
              <a:rPr lang="en-US" sz="4400" dirty="0">
                <a:solidFill>
                  <a:srgbClr val="C25D24"/>
                </a:solidFill>
                <a:latin typeface="Archivo Black" pitchFamily="34" charset="0"/>
                <a:ea typeface="Archivo Black" pitchFamily="34" charset="-122"/>
                <a:cs typeface="Archivo Black" pitchFamily="34" charset="-120"/>
              </a:rPr>
              <a:t>30</a:t>
            </a:r>
            <a:endParaRPr lang="en-US" sz="4400" dirty="0"/>
          </a:p>
        </p:txBody>
      </p:sp>
      <p:sp>
        <p:nvSpPr>
          <p:cNvPr id="14" name="Text 12"/>
          <p:cNvSpPr/>
          <p:nvPr/>
        </p:nvSpPr>
        <p:spPr>
          <a:xfrm>
            <a:off x="7063795" y="4904954"/>
            <a:ext cx="1929284" cy="374675"/>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0161B"/>
                </a:solidFill>
                <a:latin typeface="Inter" pitchFamily="34" charset="0"/>
                <a:ea typeface="Inter" pitchFamily="34" charset="-122"/>
                <a:cs typeface="Inter" pitchFamily="34" charset="-120"/>
              </a:rPr>
              <a:t>days of buy</a:t>
            </a:r>
            <a:endParaRPr lang="en-US" sz="1500" dirty="0"/>
          </a:p>
        </p:txBody>
      </p:sp>
      <p:sp>
        <p:nvSpPr>
          <p:cNvPr id="15" name="Text 13"/>
          <p:cNvSpPr/>
          <p:nvPr/>
        </p:nvSpPr>
        <p:spPr>
          <a:xfrm>
            <a:off x="6793514" y="5154042"/>
            <a:ext cx="2912720" cy="274290"/>
          </a:xfrm>
          <a:prstGeom prst="rect">
            <a:avLst/>
          </a:prstGeom>
          <a:noFill/>
          <a:ln/>
        </p:spPr>
        <p:txBody>
          <a:bodyPr wrap="square" lIns="0" tIns="0" rIns="0" bIns="0" rtlCol="0" anchor="t">
            <a:normAutofit/>
          </a:bodyPr>
          <a:lstStyle/>
          <a:p>
            <a:pPr marL="0" indent="0" algn="l">
              <a:lnSpc>
                <a:spcPts val="1960"/>
              </a:lnSpc>
              <a:buNone/>
            </a:pPr>
            <a:endParaRPr lang="en-US" sz="1400" dirty="0"/>
          </a:p>
        </p:txBody>
      </p:sp>
      <p:sp>
        <p:nvSpPr>
          <p:cNvPr id="16" name="Text 1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7A"/>
                </a:solidFill>
                <a:latin typeface="Inter" pitchFamily="34" charset="0"/>
                <a:ea typeface="Inter" pitchFamily="34" charset="-122"/>
                <a:cs typeface="Inter" pitchFamily="34" charset="-120"/>
              </a:rPr>
              <a:t>Ram Babu · 2 / 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ECE3D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300" dirty="0">
                <a:solidFill>
                  <a:srgbClr val="C25D24"/>
                </a:solidFill>
                <a:latin typeface="Inter" pitchFamily="34" charset="0"/>
                <a:ea typeface="Inter" pitchFamily="34" charset="-122"/>
                <a:cs typeface="Inter" pitchFamily="34" charset="-120"/>
              </a:rPr>
              <a:t>DEFINITIONS</a:t>
            </a:r>
            <a:endParaRPr lang="en-US" sz="1300" dirty="0"/>
          </a:p>
        </p:txBody>
      </p:sp>
      <p:sp>
        <p:nvSpPr>
          <p:cNvPr id="3" name="Text 1"/>
          <p:cNvSpPr/>
          <p:nvPr/>
        </p:nvSpPr>
        <p:spPr>
          <a:xfrm>
            <a:off x="812800" y="2310805"/>
            <a:ext cx="10883392" cy="532110"/>
          </a:xfrm>
          <a:prstGeom prst="rect">
            <a:avLst/>
          </a:prstGeom>
          <a:noFill/>
          <a:ln/>
        </p:spPr>
        <p:txBody>
          <a:bodyPr wrap="square" lIns="0" tIns="0" rIns="0" bIns="0" rtlCol="0" anchor="t">
            <a:normAutofit/>
          </a:bodyPr>
          <a:lstStyle/>
          <a:p>
            <a:pPr marL="0" indent="0" algn="l">
              <a:lnSpc>
                <a:spcPts val="3990"/>
              </a:lnSpc>
              <a:buNone/>
            </a:pPr>
            <a:r>
              <a:rPr lang="en-US" sz="3800" dirty="0">
                <a:solidFill>
                  <a:srgbClr val="10161B"/>
                </a:solidFill>
                <a:latin typeface="Archivo Black" pitchFamily="34" charset="0"/>
                <a:ea typeface="Archivo Black" pitchFamily="34" charset="-122"/>
                <a:cs typeface="Archivo Black" pitchFamily="34" charset="-120"/>
              </a:rPr>
              <a:t>Four words, four columns.</a:t>
            </a:r>
            <a:endParaRPr lang="en-US" sz="3800" dirty="0"/>
          </a:p>
        </p:txBody>
      </p:sp>
      <p:sp>
        <p:nvSpPr>
          <p:cNvPr id="4" name="Shape 2"/>
          <p:cNvSpPr/>
          <p:nvPr/>
        </p:nvSpPr>
        <p:spPr>
          <a:xfrm>
            <a:off x="812800" y="4084389"/>
            <a:ext cx="2508250" cy="1757561"/>
          </a:xfrm>
          <a:prstGeom prst="roundRect">
            <a:avLst>
              <a:gd name="adj" fmla="val 7226"/>
            </a:avLst>
          </a:prstGeom>
          <a:solidFill>
            <a:srgbClr val="FFFFFF"/>
          </a:solidFill>
          <a:ln/>
        </p:spPr>
        <p:txBody>
          <a:bodyPr/>
          <a:lstStyle/>
          <a:p>
            <a:endParaRPr lang="en-DE"/>
          </a:p>
        </p:txBody>
      </p:sp>
      <p:sp>
        <p:nvSpPr>
          <p:cNvPr id="5" name="Text 3"/>
          <p:cNvSpPr/>
          <p:nvPr/>
        </p:nvSpPr>
        <p:spPr>
          <a:xfrm>
            <a:off x="1066800" y="4338389"/>
            <a:ext cx="206025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5D24"/>
                </a:solidFill>
                <a:latin typeface="Inter" pitchFamily="34" charset="0"/>
                <a:ea typeface="Inter" pitchFamily="34" charset="-122"/>
                <a:cs typeface="Inter" pitchFamily="34" charset="-120"/>
              </a:rPr>
              <a:t>WATERFRONT</a:t>
            </a:r>
            <a:endParaRPr lang="en-US" sz="1200" dirty="0"/>
          </a:p>
        </p:txBody>
      </p:sp>
      <p:sp>
        <p:nvSpPr>
          <p:cNvPr id="6" name="Text 4"/>
          <p:cNvSpPr/>
          <p:nvPr/>
        </p:nvSpPr>
        <p:spPr>
          <a:xfrm>
            <a:off x="1066800" y="4653310"/>
            <a:ext cx="2060257" cy="360660"/>
          </a:xfrm>
          <a:prstGeom prst="rect">
            <a:avLst/>
          </a:prstGeom>
          <a:noFill/>
          <a:ln/>
        </p:spPr>
        <p:txBody>
          <a:bodyPr wrap="square" lIns="0" tIns="0" rIns="0" bIns="0" rtlCol="0" anchor="t">
            <a:normAutofit/>
          </a:bodyPr>
          <a:lstStyle/>
          <a:p>
            <a:pPr marL="0" indent="0" algn="l">
              <a:lnSpc>
                <a:spcPts val="2640"/>
              </a:lnSpc>
              <a:buNone/>
            </a:pPr>
            <a:r>
              <a:rPr lang="en-US" sz="2400" dirty="0">
                <a:solidFill>
                  <a:srgbClr val="10161B"/>
                </a:solidFill>
                <a:latin typeface="Archivo Black" pitchFamily="34" charset="0"/>
                <a:ea typeface="Archivo Black" pitchFamily="34" charset="-122"/>
                <a:cs typeface="Archivo Black" pitchFamily="34" charset="-120"/>
              </a:rPr>
              <a:t>1 or 0</a:t>
            </a:r>
            <a:endParaRPr lang="en-US" sz="2400" dirty="0"/>
          </a:p>
        </p:txBody>
      </p:sp>
      <p:sp>
        <p:nvSpPr>
          <p:cNvPr id="7" name="Text 5"/>
          <p:cNvSpPr/>
          <p:nvPr/>
        </p:nvSpPr>
        <p:spPr>
          <a:xfrm>
            <a:off x="1066800" y="5090170"/>
            <a:ext cx="206025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Blanks read as 0.</a:t>
            </a:r>
            <a:endParaRPr lang="en-US" sz="1400" dirty="0"/>
          </a:p>
        </p:txBody>
      </p:sp>
      <p:sp>
        <p:nvSpPr>
          <p:cNvPr id="8" name="Shape 6"/>
          <p:cNvSpPr/>
          <p:nvPr/>
        </p:nvSpPr>
        <p:spPr>
          <a:xfrm>
            <a:off x="3498850" y="4084389"/>
            <a:ext cx="2508250" cy="1757561"/>
          </a:xfrm>
          <a:prstGeom prst="roundRect">
            <a:avLst>
              <a:gd name="adj" fmla="val 7226"/>
            </a:avLst>
          </a:prstGeom>
          <a:solidFill>
            <a:srgbClr val="FFFFFF"/>
          </a:solidFill>
          <a:ln/>
        </p:spPr>
        <p:txBody>
          <a:bodyPr/>
          <a:lstStyle/>
          <a:p>
            <a:endParaRPr lang="en-DE"/>
          </a:p>
        </p:txBody>
      </p:sp>
      <p:sp>
        <p:nvSpPr>
          <p:cNvPr id="9" name="Text 7"/>
          <p:cNvSpPr/>
          <p:nvPr/>
        </p:nvSpPr>
        <p:spPr>
          <a:xfrm>
            <a:off x="3752850" y="4338389"/>
            <a:ext cx="206025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5D24"/>
                </a:solidFill>
                <a:latin typeface="Inter" pitchFamily="34" charset="0"/>
                <a:ea typeface="Inter" pitchFamily="34" charset="-122"/>
                <a:cs typeface="Inter" pitchFamily="34" charset="-120"/>
              </a:rPr>
              <a:t>VIEW</a:t>
            </a:r>
            <a:endParaRPr lang="en-US" sz="1200" dirty="0"/>
          </a:p>
        </p:txBody>
      </p:sp>
      <p:sp>
        <p:nvSpPr>
          <p:cNvPr id="10" name="Text 8"/>
          <p:cNvSpPr/>
          <p:nvPr/>
        </p:nvSpPr>
        <p:spPr>
          <a:xfrm>
            <a:off x="3752850" y="4653310"/>
            <a:ext cx="2060257" cy="360660"/>
          </a:xfrm>
          <a:prstGeom prst="rect">
            <a:avLst/>
          </a:prstGeom>
          <a:noFill/>
          <a:ln/>
        </p:spPr>
        <p:txBody>
          <a:bodyPr wrap="square" lIns="0" tIns="0" rIns="0" bIns="0" rtlCol="0" anchor="t">
            <a:normAutofit/>
          </a:bodyPr>
          <a:lstStyle/>
          <a:p>
            <a:pPr marL="0" indent="0" algn="l">
              <a:lnSpc>
                <a:spcPts val="2640"/>
              </a:lnSpc>
              <a:buNone/>
            </a:pPr>
            <a:r>
              <a:rPr lang="en-US" sz="2400" dirty="0">
                <a:solidFill>
                  <a:srgbClr val="10161B"/>
                </a:solidFill>
                <a:latin typeface="Archivo Black" pitchFamily="34" charset="0"/>
                <a:ea typeface="Archivo Black" pitchFamily="34" charset="-122"/>
                <a:cs typeface="Archivo Black" pitchFamily="34" charset="-120"/>
              </a:rPr>
              <a:t>Graded 0–4</a:t>
            </a:r>
            <a:endParaRPr lang="en-US" sz="2400" dirty="0"/>
          </a:p>
        </p:txBody>
      </p:sp>
      <p:sp>
        <p:nvSpPr>
          <p:cNvPr id="11" name="Text 9"/>
          <p:cNvSpPr/>
          <p:nvPr/>
        </p:nvSpPr>
        <p:spPr>
          <a:xfrm>
            <a:off x="3752850" y="5090170"/>
            <a:ext cx="206025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4 is panoramic.</a:t>
            </a:r>
            <a:endParaRPr lang="en-US" sz="1400" dirty="0"/>
          </a:p>
        </p:txBody>
      </p:sp>
      <p:sp>
        <p:nvSpPr>
          <p:cNvPr id="12" name="Shape 10"/>
          <p:cNvSpPr/>
          <p:nvPr/>
        </p:nvSpPr>
        <p:spPr>
          <a:xfrm>
            <a:off x="6184900" y="4084389"/>
            <a:ext cx="2508250" cy="1757561"/>
          </a:xfrm>
          <a:prstGeom prst="roundRect">
            <a:avLst>
              <a:gd name="adj" fmla="val 7226"/>
            </a:avLst>
          </a:prstGeom>
          <a:solidFill>
            <a:srgbClr val="FFFFFF"/>
          </a:solidFill>
          <a:ln/>
        </p:spPr>
        <p:txBody>
          <a:bodyPr/>
          <a:lstStyle/>
          <a:p>
            <a:endParaRPr lang="en-DE"/>
          </a:p>
        </p:txBody>
      </p:sp>
      <p:sp>
        <p:nvSpPr>
          <p:cNvPr id="13" name="Text 11"/>
          <p:cNvSpPr/>
          <p:nvPr/>
        </p:nvSpPr>
        <p:spPr>
          <a:xfrm>
            <a:off x="6438900" y="4338389"/>
            <a:ext cx="206025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5D24"/>
                </a:solidFill>
                <a:latin typeface="Inter" pitchFamily="34" charset="0"/>
                <a:ea typeface="Inter" pitchFamily="34" charset="-122"/>
                <a:cs typeface="Inter" pitchFamily="34" charset="-120"/>
              </a:rPr>
              <a:t>POSH</a:t>
            </a:r>
            <a:endParaRPr lang="en-US" sz="1200" dirty="0"/>
          </a:p>
        </p:txBody>
      </p:sp>
      <p:sp>
        <p:nvSpPr>
          <p:cNvPr id="14" name="Text 12"/>
          <p:cNvSpPr/>
          <p:nvPr/>
        </p:nvSpPr>
        <p:spPr>
          <a:xfrm>
            <a:off x="6438900" y="4653310"/>
            <a:ext cx="2060257" cy="360660"/>
          </a:xfrm>
          <a:prstGeom prst="rect">
            <a:avLst/>
          </a:prstGeom>
          <a:noFill/>
          <a:ln/>
        </p:spPr>
        <p:txBody>
          <a:bodyPr wrap="square" lIns="0" tIns="0" rIns="0" bIns="0" rtlCol="0" anchor="t">
            <a:normAutofit/>
          </a:bodyPr>
          <a:lstStyle/>
          <a:p>
            <a:pPr marL="0" indent="0" algn="l">
              <a:lnSpc>
                <a:spcPts val="2640"/>
              </a:lnSpc>
              <a:buNone/>
            </a:pPr>
            <a:r>
              <a:rPr lang="en-US" sz="2400" dirty="0">
                <a:solidFill>
                  <a:srgbClr val="10161B"/>
                </a:solidFill>
                <a:latin typeface="Archivo Black" pitchFamily="34" charset="0"/>
                <a:ea typeface="Archivo Black" pitchFamily="34" charset="-122"/>
                <a:cs typeface="Archivo Black" pitchFamily="34" charset="-120"/>
              </a:rPr>
              <a:t>Top 1%</a:t>
            </a:r>
            <a:endParaRPr lang="en-US" sz="2400" dirty="0"/>
          </a:p>
        </p:txBody>
      </p:sp>
      <p:sp>
        <p:nvSpPr>
          <p:cNvPr id="15" name="Text 13"/>
          <p:cNvSpPr/>
          <p:nvPr/>
        </p:nvSpPr>
        <p:spPr>
          <a:xfrm>
            <a:off x="6438900" y="5090170"/>
            <a:ext cx="206025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$1.97M and above.</a:t>
            </a:r>
            <a:endParaRPr lang="en-US" sz="1400" dirty="0"/>
          </a:p>
        </p:txBody>
      </p:sp>
      <p:sp>
        <p:nvSpPr>
          <p:cNvPr id="16" name="Shape 14"/>
          <p:cNvSpPr/>
          <p:nvPr/>
        </p:nvSpPr>
        <p:spPr>
          <a:xfrm>
            <a:off x="8870950" y="4084389"/>
            <a:ext cx="2508250" cy="1757561"/>
          </a:xfrm>
          <a:prstGeom prst="roundRect">
            <a:avLst>
              <a:gd name="adj" fmla="val 7226"/>
            </a:avLst>
          </a:prstGeom>
          <a:solidFill>
            <a:srgbClr val="FFFFFF"/>
          </a:solidFill>
          <a:ln/>
        </p:spPr>
        <p:txBody>
          <a:bodyPr/>
          <a:lstStyle/>
          <a:p>
            <a:endParaRPr lang="en-DE"/>
          </a:p>
        </p:txBody>
      </p:sp>
      <p:sp>
        <p:nvSpPr>
          <p:cNvPr id="17" name="Text 15"/>
          <p:cNvSpPr/>
          <p:nvPr/>
        </p:nvSpPr>
        <p:spPr>
          <a:xfrm>
            <a:off x="9124950" y="4338389"/>
            <a:ext cx="2060257"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C25D24"/>
                </a:solidFill>
                <a:latin typeface="Inter" pitchFamily="34" charset="0"/>
                <a:ea typeface="Inter" pitchFamily="34" charset="-122"/>
                <a:cs typeface="Inter" pitchFamily="34" charset="-120"/>
              </a:rPr>
              <a:t>CENTRE</a:t>
            </a:r>
            <a:endParaRPr lang="en-US" sz="1200" dirty="0"/>
          </a:p>
        </p:txBody>
      </p:sp>
      <p:sp>
        <p:nvSpPr>
          <p:cNvPr id="18" name="Text 16"/>
          <p:cNvSpPr/>
          <p:nvPr/>
        </p:nvSpPr>
        <p:spPr>
          <a:xfrm>
            <a:off x="9124950" y="4653310"/>
            <a:ext cx="2060257" cy="360660"/>
          </a:xfrm>
          <a:prstGeom prst="rect">
            <a:avLst/>
          </a:prstGeom>
          <a:noFill/>
          <a:ln/>
        </p:spPr>
        <p:txBody>
          <a:bodyPr wrap="square" lIns="0" tIns="0" rIns="0" bIns="0" rtlCol="0" anchor="t">
            <a:normAutofit/>
          </a:bodyPr>
          <a:lstStyle/>
          <a:p>
            <a:pPr marL="0" indent="0" algn="l">
              <a:lnSpc>
                <a:spcPts val="2640"/>
              </a:lnSpc>
              <a:buNone/>
            </a:pPr>
            <a:r>
              <a:rPr lang="en-US" sz="2400" dirty="0">
                <a:solidFill>
                  <a:srgbClr val="10161B"/>
                </a:solidFill>
                <a:latin typeface="Archivo Black" pitchFamily="34" charset="0"/>
                <a:ea typeface="Archivo Black" pitchFamily="34" charset="-122"/>
                <a:cs typeface="Archivo Black" pitchFamily="34" charset="-120"/>
              </a:rPr>
              <a:t>5 km ring</a:t>
            </a:r>
            <a:endParaRPr lang="en-US" sz="2400" dirty="0"/>
          </a:p>
        </p:txBody>
      </p:sp>
      <p:sp>
        <p:nvSpPr>
          <p:cNvPr id="19" name="Text 17"/>
          <p:cNvSpPr/>
          <p:nvPr/>
        </p:nvSpPr>
        <p:spPr>
          <a:xfrm>
            <a:off x="9124950" y="5090170"/>
            <a:ext cx="206025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Around 47.506N, 122.152W.</a:t>
            </a:r>
            <a:endParaRPr lang="en-US" sz="1400" dirty="0"/>
          </a:p>
        </p:txBody>
      </p:sp>
      <p:sp>
        <p:nvSpPr>
          <p:cNvPr id="20" name="Text 18"/>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7806F"/>
                </a:solidFill>
                <a:latin typeface="Inter" pitchFamily="34" charset="0"/>
                <a:ea typeface="Inter" pitchFamily="34" charset="-122"/>
                <a:cs typeface="Inter" pitchFamily="34" charset="-120"/>
              </a:rPr>
              <a:t>Ram Babu· 3 / 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300" dirty="0">
                <a:solidFill>
                  <a:srgbClr val="C25D24"/>
                </a:solidFill>
                <a:latin typeface="Inter" pitchFamily="34" charset="0"/>
                <a:ea typeface="Inter" pitchFamily="34" charset="-122"/>
                <a:cs typeface="Inter" pitchFamily="34" charset="-120"/>
              </a:rPr>
              <a:t>WHAT I TESTED</a:t>
            </a:r>
            <a:endParaRPr lang="en-US" sz="1300" dirty="0"/>
          </a:p>
        </p:txBody>
      </p:sp>
      <p:sp>
        <p:nvSpPr>
          <p:cNvPr id="3" name="Text 1"/>
          <p:cNvSpPr/>
          <p:nvPr/>
        </p:nvSpPr>
        <p:spPr>
          <a:xfrm>
            <a:off x="812800" y="2317105"/>
            <a:ext cx="10883392" cy="532110"/>
          </a:xfrm>
          <a:prstGeom prst="rect">
            <a:avLst/>
          </a:prstGeom>
          <a:noFill/>
          <a:ln/>
        </p:spPr>
        <p:txBody>
          <a:bodyPr wrap="square" lIns="0" tIns="0" rIns="0" bIns="0" rtlCol="0" anchor="t">
            <a:normAutofit/>
          </a:bodyPr>
          <a:lstStyle/>
          <a:p>
            <a:pPr marL="0" indent="0" algn="l">
              <a:lnSpc>
                <a:spcPts val="3990"/>
              </a:lnSpc>
              <a:buNone/>
            </a:pPr>
            <a:r>
              <a:rPr lang="en-US" sz="3800" dirty="0">
                <a:solidFill>
                  <a:srgbClr val="10161B"/>
                </a:solidFill>
                <a:latin typeface="Archivo Black" pitchFamily="34" charset="0"/>
                <a:ea typeface="Archivo Black" pitchFamily="34" charset="-122"/>
                <a:cs typeface="Archivo Black" pitchFamily="34" charset="-120"/>
              </a:rPr>
              <a:t>Three claims. One dataset.</a:t>
            </a:r>
            <a:endParaRPr lang="en-US" sz="3800" dirty="0"/>
          </a:p>
        </p:txBody>
      </p:sp>
      <p:sp>
        <p:nvSpPr>
          <p:cNvPr id="4" name="Shape 2"/>
          <p:cNvSpPr/>
          <p:nvPr/>
        </p:nvSpPr>
        <p:spPr>
          <a:xfrm>
            <a:off x="812800" y="4096990"/>
            <a:ext cx="3386683" cy="1744960"/>
          </a:xfrm>
          <a:prstGeom prst="roundRect">
            <a:avLst>
              <a:gd name="adj" fmla="val 7278"/>
            </a:avLst>
          </a:prstGeom>
          <a:solidFill>
            <a:srgbClr val="FFFFFF"/>
          </a:solidFill>
          <a:ln/>
        </p:spPr>
        <p:txBody>
          <a:bodyPr/>
          <a:lstStyle/>
          <a:p>
            <a:endParaRPr lang="en-DE"/>
          </a:p>
        </p:txBody>
      </p:sp>
      <p:sp>
        <p:nvSpPr>
          <p:cNvPr id="5" name="Text 3"/>
          <p:cNvSpPr/>
          <p:nvPr/>
        </p:nvSpPr>
        <p:spPr>
          <a:xfrm>
            <a:off x="1092200" y="4376390"/>
            <a:ext cx="2912720" cy="431800"/>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E07A3F"/>
                </a:solidFill>
                <a:latin typeface="Archivo Black" pitchFamily="34" charset="0"/>
                <a:ea typeface="Archivo Black" pitchFamily="34" charset="-122"/>
                <a:cs typeface="Archivo Black" pitchFamily="34" charset="-120"/>
              </a:rPr>
              <a:t>H1</a:t>
            </a:r>
            <a:endParaRPr lang="en-US" sz="3200" dirty="0"/>
          </a:p>
        </p:txBody>
      </p:sp>
      <p:sp>
        <p:nvSpPr>
          <p:cNvPr id="6" name="Text 4"/>
          <p:cNvSpPr/>
          <p:nvPr/>
        </p:nvSpPr>
        <p:spPr>
          <a:xfrm>
            <a:off x="1092200" y="4935190"/>
            <a:ext cx="2912720" cy="652760"/>
          </a:xfrm>
          <a:prstGeom prst="rect">
            <a:avLst/>
          </a:prstGeom>
          <a:noFill/>
          <a:ln/>
        </p:spPr>
        <p:txBody>
          <a:bodyPr wrap="square" lIns="0" tIns="0" rIns="0" bIns="0" rtlCol="0" anchor="t">
            <a:normAutofit/>
          </a:bodyPr>
          <a:lstStyle/>
          <a:p>
            <a:pPr marL="0" indent="0" algn="l">
              <a:lnSpc>
                <a:spcPts val="2470"/>
              </a:lnSpc>
              <a:buNone/>
            </a:pPr>
            <a:r>
              <a:rPr lang="en-US" sz="1900" b="1" dirty="0">
                <a:solidFill>
                  <a:srgbClr val="10161B"/>
                </a:solidFill>
                <a:latin typeface="Inter" pitchFamily="34" charset="0"/>
                <a:ea typeface="Inter" pitchFamily="34" charset="-122"/>
                <a:cs typeface="Inter" pitchFamily="34" charset="-120"/>
              </a:rPr>
              <a:t>Waterfront costs more than inland.</a:t>
            </a:r>
            <a:endParaRPr lang="en-US" sz="1900" dirty="0"/>
          </a:p>
        </p:txBody>
      </p:sp>
      <p:sp>
        <p:nvSpPr>
          <p:cNvPr id="7" name="Shape 5"/>
          <p:cNvSpPr/>
          <p:nvPr/>
        </p:nvSpPr>
        <p:spPr>
          <a:xfrm>
            <a:off x="4402683" y="4096990"/>
            <a:ext cx="3386683" cy="1744960"/>
          </a:xfrm>
          <a:prstGeom prst="roundRect">
            <a:avLst>
              <a:gd name="adj" fmla="val 7278"/>
            </a:avLst>
          </a:prstGeom>
          <a:solidFill>
            <a:srgbClr val="FFFFFF"/>
          </a:solidFill>
          <a:ln/>
        </p:spPr>
        <p:txBody>
          <a:bodyPr/>
          <a:lstStyle/>
          <a:p>
            <a:endParaRPr lang="en-DE"/>
          </a:p>
        </p:txBody>
      </p:sp>
      <p:sp>
        <p:nvSpPr>
          <p:cNvPr id="8" name="Text 6"/>
          <p:cNvSpPr/>
          <p:nvPr/>
        </p:nvSpPr>
        <p:spPr>
          <a:xfrm>
            <a:off x="4682083" y="4376390"/>
            <a:ext cx="2912720" cy="431800"/>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E07A3F"/>
                </a:solidFill>
                <a:latin typeface="Archivo Black" pitchFamily="34" charset="0"/>
                <a:ea typeface="Archivo Black" pitchFamily="34" charset="-122"/>
                <a:cs typeface="Archivo Black" pitchFamily="34" charset="-120"/>
              </a:rPr>
              <a:t>H2</a:t>
            </a:r>
            <a:endParaRPr lang="en-US" sz="3200" dirty="0"/>
          </a:p>
        </p:txBody>
      </p:sp>
      <p:sp>
        <p:nvSpPr>
          <p:cNvPr id="9" name="Text 7"/>
          <p:cNvSpPr/>
          <p:nvPr/>
        </p:nvSpPr>
        <p:spPr>
          <a:xfrm>
            <a:off x="4682083" y="4935190"/>
            <a:ext cx="2912720" cy="652760"/>
          </a:xfrm>
          <a:prstGeom prst="rect">
            <a:avLst/>
          </a:prstGeom>
          <a:noFill/>
          <a:ln/>
        </p:spPr>
        <p:txBody>
          <a:bodyPr wrap="square" lIns="0" tIns="0" rIns="0" bIns="0" rtlCol="0" anchor="t">
            <a:normAutofit/>
          </a:bodyPr>
          <a:lstStyle/>
          <a:p>
            <a:pPr marL="0" indent="0" algn="l">
              <a:lnSpc>
                <a:spcPts val="2470"/>
              </a:lnSpc>
              <a:buNone/>
            </a:pPr>
            <a:r>
              <a:rPr lang="en-US" sz="1900" b="1" dirty="0">
                <a:solidFill>
                  <a:srgbClr val="10161B"/>
                </a:solidFill>
                <a:latin typeface="Inter" pitchFamily="34" charset="0"/>
                <a:ea typeface="Inter" pitchFamily="34" charset="-122"/>
                <a:cs typeface="Inter" pitchFamily="34" charset="-120"/>
              </a:rPr>
              <a:t>A better view costs more than a worse one.</a:t>
            </a:r>
            <a:endParaRPr lang="en-US" sz="1900" dirty="0"/>
          </a:p>
        </p:txBody>
      </p:sp>
      <p:sp>
        <p:nvSpPr>
          <p:cNvPr id="10" name="Shape 8"/>
          <p:cNvSpPr/>
          <p:nvPr/>
        </p:nvSpPr>
        <p:spPr>
          <a:xfrm>
            <a:off x="7992566" y="4096990"/>
            <a:ext cx="3386683" cy="1744960"/>
          </a:xfrm>
          <a:prstGeom prst="roundRect">
            <a:avLst>
              <a:gd name="adj" fmla="val 7278"/>
            </a:avLst>
          </a:prstGeom>
          <a:solidFill>
            <a:srgbClr val="FFFFFF"/>
          </a:solidFill>
          <a:ln/>
        </p:spPr>
        <p:txBody>
          <a:bodyPr/>
          <a:lstStyle/>
          <a:p>
            <a:endParaRPr lang="en-DE"/>
          </a:p>
        </p:txBody>
      </p:sp>
      <p:sp>
        <p:nvSpPr>
          <p:cNvPr id="11" name="Text 9"/>
          <p:cNvSpPr/>
          <p:nvPr/>
        </p:nvSpPr>
        <p:spPr>
          <a:xfrm>
            <a:off x="8271966" y="4376390"/>
            <a:ext cx="2912720" cy="431800"/>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E07A3F"/>
                </a:solidFill>
                <a:latin typeface="Archivo Black" pitchFamily="34" charset="0"/>
                <a:ea typeface="Archivo Black" pitchFamily="34" charset="-122"/>
                <a:cs typeface="Archivo Black" pitchFamily="34" charset="-120"/>
              </a:rPr>
              <a:t>H3</a:t>
            </a:r>
            <a:endParaRPr lang="en-US" sz="3200" dirty="0"/>
          </a:p>
        </p:txBody>
      </p:sp>
      <p:sp>
        <p:nvSpPr>
          <p:cNvPr id="12" name="Text 10"/>
          <p:cNvSpPr/>
          <p:nvPr/>
        </p:nvSpPr>
        <p:spPr>
          <a:xfrm>
            <a:off x="8271966" y="4935190"/>
            <a:ext cx="2912720" cy="652760"/>
          </a:xfrm>
          <a:prstGeom prst="rect">
            <a:avLst/>
          </a:prstGeom>
          <a:noFill/>
          <a:ln/>
        </p:spPr>
        <p:txBody>
          <a:bodyPr wrap="square" lIns="0" tIns="0" rIns="0" bIns="0" rtlCol="0" anchor="t">
            <a:normAutofit/>
          </a:bodyPr>
          <a:lstStyle/>
          <a:p>
            <a:pPr marL="0" indent="0" algn="l">
              <a:lnSpc>
                <a:spcPts val="2470"/>
              </a:lnSpc>
              <a:buNone/>
            </a:pPr>
            <a:r>
              <a:rPr lang="en-US" sz="1900" b="1" dirty="0">
                <a:solidFill>
                  <a:srgbClr val="10161B"/>
                </a:solidFill>
                <a:latin typeface="Inter" pitchFamily="34" charset="0"/>
                <a:ea typeface="Inter" pitchFamily="34" charset="-122"/>
                <a:cs typeface="Inter" pitchFamily="34" charset="-120"/>
              </a:rPr>
              <a:t>The posh houses sit outside the centre.</a:t>
            </a:r>
            <a:endParaRPr lang="en-US" sz="1900" dirty="0"/>
          </a:p>
        </p:txBody>
      </p:sp>
      <p:sp>
        <p:nvSpPr>
          <p:cNvPr id="13" name="Text 11"/>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7A"/>
                </a:solidFill>
                <a:latin typeface="Inter" pitchFamily="34" charset="0"/>
                <a:ea typeface="Inter" pitchFamily="34" charset="-122"/>
                <a:cs typeface="Inter" pitchFamily="34" charset="-120"/>
              </a:rPr>
              <a:t>Ram Babu · 4 / 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ECE3D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300" dirty="0">
                <a:solidFill>
                  <a:srgbClr val="C25D24"/>
                </a:solidFill>
                <a:latin typeface="Inter" pitchFamily="34" charset="0"/>
                <a:ea typeface="Inter" pitchFamily="34" charset="-122"/>
                <a:cs typeface="Inter" pitchFamily="34" charset="-120"/>
              </a:rPr>
              <a:t>THE CLEAN-UP</a:t>
            </a:r>
            <a:endParaRPr lang="en-US" sz="1300" dirty="0"/>
          </a:p>
        </p:txBody>
      </p:sp>
      <p:sp>
        <p:nvSpPr>
          <p:cNvPr id="3" name="Text 1"/>
          <p:cNvSpPr/>
          <p:nvPr/>
        </p:nvSpPr>
        <p:spPr>
          <a:xfrm>
            <a:off x="812800" y="2409230"/>
            <a:ext cx="10883392" cy="718790"/>
          </a:xfrm>
          <a:prstGeom prst="rect">
            <a:avLst/>
          </a:prstGeom>
          <a:noFill/>
          <a:ln/>
        </p:spPr>
        <p:txBody>
          <a:bodyPr wrap="square" lIns="0" tIns="0" rIns="0" bIns="0" rtlCol="0" anchor="t">
            <a:normAutofit/>
          </a:bodyPr>
          <a:lstStyle/>
          <a:p>
            <a:pPr>
              <a:lnSpc>
                <a:spcPts val="5460"/>
              </a:lnSpc>
            </a:pPr>
            <a:r>
              <a:rPr lang="en-US" sz="5200" dirty="0">
                <a:solidFill>
                  <a:srgbClr val="10161B"/>
                </a:solidFill>
                <a:latin typeface="Archivo Black" pitchFamily="34" charset="0"/>
                <a:ea typeface="Archivo Black" pitchFamily="34" charset="-122"/>
                <a:cs typeface="Archivo Black" pitchFamily="34" charset="-120"/>
              </a:rPr>
              <a:t>21,597 in. 17,196 out.</a:t>
            </a:r>
            <a:endParaRPr lang="en-US" sz="5200" dirty="0"/>
          </a:p>
        </p:txBody>
      </p:sp>
      <p:sp>
        <p:nvSpPr>
          <p:cNvPr id="4" name="Shape 2"/>
          <p:cNvSpPr/>
          <p:nvPr/>
        </p:nvSpPr>
        <p:spPr>
          <a:xfrm>
            <a:off x="812800" y="4467920"/>
            <a:ext cx="2508250" cy="1374080"/>
          </a:xfrm>
          <a:prstGeom prst="roundRect">
            <a:avLst>
              <a:gd name="adj" fmla="val 9243"/>
            </a:avLst>
          </a:prstGeom>
          <a:solidFill>
            <a:srgbClr val="FFFFFF"/>
          </a:solidFill>
          <a:ln/>
        </p:spPr>
        <p:txBody>
          <a:bodyPr/>
          <a:lstStyle/>
          <a:p>
            <a:endParaRPr lang="en-DE"/>
          </a:p>
        </p:txBody>
      </p:sp>
      <p:sp>
        <p:nvSpPr>
          <p:cNvPr id="5" name="Text 3"/>
          <p:cNvSpPr/>
          <p:nvPr/>
        </p:nvSpPr>
        <p:spPr>
          <a:xfrm>
            <a:off x="1041400" y="4696520"/>
            <a:ext cx="2112582" cy="355600"/>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10161B"/>
                </a:solidFill>
                <a:latin typeface="Archivo Black" pitchFamily="34" charset="0"/>
                <a:ea typeface="Archivo Black" pitchFamily="34" charset="-122"/>
                <a:cs typeface="Archivo Black" pitchFamily="34" charset="-120"/>
              </a:rPr>
              <a:t>2,391</a:t>
            </a:r>
            <a:endParaRPr lang="en-US" sz="2600" dirty="0"/>
          </a:p>
        </p:txBody>
      </p:sp>
      <p:sp>
        <p:nvSpPr>
          <p:cNvPr id="6" name="Text 4"/>
          <p:cNvSpPr/>
          <p:nvPr/>
        </p:nvSpPr>
        <p:spPr>
          <a:xfrm>
            <a:off x="1041400" y="5115620"/>
            <a:ext cx="211258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blank waterfront flags, set to 0</a:t>
            </a:r>
            <a:endParaRPr lang="en-US" sz="1400" dirty="0"/>
          </a:p>
        </p:txBody>
      </p:sp>
      <p:sp>
        <p:nvSpPr>
          <p:cNvPr id="7" name="Shape 5"/>
          <p:cNvSpPr/>
          <p:nvPr/>
        </p:nvSpPr>
        <p:spPr>
          <a:xfrm>
            <a:off x="3498850" y="4467920"/>
            <a:ext cx="2508250" cy="1374080"/>
          </a:xfrm>
          <a:prstGeom prst="roundRect">
            <a:avLst>
              <a:gd name="adj" fmla="val 9243"/>
            </a:avLst>
          </a:prstGeom>
          <a:solidFill>
            <a:srgbClr val="FFFFFF"/>
          </a:solidFill>
          <a:ln/>
        </p:spPr>
        <p:txBody>
          <a:bodyPr/>
          <a:lstStyle/>
          <a:p>
            <a:endParaRPr lang="en-DE"/>
          </a:p>
        </p:txBody>
      </p:sp>
      <p:sp>
        <p:nvSpPr>
          <p:cNvPr id="8" name="Text 6"/>
          <p:cNvSpPr/>
          <p:nvPr/>
        </p:nvSpPr>
        <p:spPr>
          <a:xfrm>
            <a:off x="3727450" y="4696520"/>
            <a:ext cx="2112582" cy="355600"/>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10161B"/>
                </a:solidFill>
                <a:latin typeface="Archivo Black" pitchFamily="34" charset="0"/>
                <a:ea typeface="Archivo Black" pitchFamily="34" charset="-122"/>
                <a:cs typeface="Archivo Black" pitchFamily="34" charset="-120"/>
              </a:rPr>
              <a:t>4,363</a:t>
            </a:r>
            <a:endParaRPr lang="en-US" sz="2600" dirty="0"/>
          </a:p>
        </p:txBody>
      </p:sp>
      <p:sp>
        <p:nvSpPr>
          <p:cNvPr id="9" name="Text 7"/>
          <p:cNvSpPr/>
          <p:nvPr/>
        </p:nvSpPr>
        <p:spPr>
          <a:xfrm>
            <a:off x="3727450" y="5115620"/>
            <a:ext cx="211258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rows dropped for missing values</a:t>
            </a:r>
            <a:endParaRPr lang="en-US" sz="1400" dirty="0"/>
          </a:p>
        </p:txBody>
      </p:sp>
      <p:sp>
        <p:nvSpPr>
          <p:cNvPr id="10" name="Shape 8"/>
          <p:cNvSpPr/>
          <p:nvPr/>
        </p:nvSpPr>
        <p:spPr>
          <a:xfrm>
            <a:off x="6184900" y="4467920"/>
            <a:ext cx="2508250" cy="1374080"/>
          </a:xfrm>
          <a:prstGeom prst="roundRect">
            <a:avLst>
              <a:gd name="adj" fmla="val 9243"/>
            </a:avLst>
          </a:prstGeom>
          <a:solidFill>
            <a:srgbClr val="FFFFFF"/>
          </a:solidFill>
          <a:ln/>
        </p:spPr>
        <p:txBody>
          <a:bodyPr/>
          <a:lstStyle/>
          <a:p>
            <a:endParaRPr lang="en-DE"/>
          </a:p>
        </p:txBody>
      </p:sp>
      <p:sp>
        <p:nvSpPr>
          <p:cNvPr id="11" name="Text 9"/>
          <p:cNvSpPr/>
          <p:nvPr/>
        </p:nvSpPr>
        <p:spPr>
          <a:xfrm>
            <a:off x="6413500" y="4696520"/>
            <a:ext cx="2112582" cy="355600"/>
          </a:xfrm>
          <a:prstGeom prst="rect">
            <a:avLst/>
          </a:prstGeom>
          <a:noFill/>
          <a:ln/>
        </p:spPr>
        <p:txBody>
          <a:bodyPr wrap="square" lIns="0" tIns="0" rIns="0" bIns="0" rtlCol="0" anchor="t">
            <a:normAutofit/>
          </a:bodyPr>
          <a:lstStyle/>
          <a:p>
            <a:pPr marL="0" indent="0" algn="l">
              <a:lnSpc>
                <a:spcPts val="2600"/>
              </a:lnSpc>
              <a:buNone/>
            </a:pPr>
            <a:r>
              <a:rPr lang="en-US" sz="2600" dirty="0">
                <a:solidFill>
                  <a:srgbClr val="10161B"/>
                </a:solidFill>
                <a:latin typeface="Archivo Black" pitchFamily="34" charset="0"/>
                <a:ea typeface="Archivo Black" pitchFamily="34" charset="-122"/>
                <a:cs typeface="Archivo Black" pitchFamily="34" charset="-120"/>
              </a:rPr>
              <a:t>177</a:t>
            </a:r>
            <a:endParaRPr lang="en-US" sz="2600" dirty="0"/>
          </a:p>
        </p:txBody>
      </p:sp>
      <p:sp>
        <p:nvSpPr>
          <p:cNvPr id="12" name="Text 10"/>
          <p:cNvSpPr/>
          <p:nvPr/>
        </p:nvSpPr>
        <p:spPr>
          <a:xfrm>
            <a:off x="6413500" y="5115620"/>
            <a:ext cx="211258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re-sales, removed based on ids with old date. </a:t>
            </a:r>
            <a:endParaRPr lang="en-US" sz="1400" dirty="0"/>
          </a:p>
        </p:txBody>
      </p:sp>
      <p:sp>
        <p:nvSpPr>
          <p:cNvPr id="13" name="Shape 11"/>
          <p:cNvSpPr/>
          <p:nvPr/>
        </p:nvSpPr>
        <p:spPr>
          <a:xfrm>
            <a:off x="7271957" y="2409230"/>
            <a:ext cx="2193590" cy="872530"/>
          </a:xfrm>
          <a:prstGeom prst="roundRect">
            <a:avLst>
              <a:gd name="adj" fmla="val 9243"/>
            </a:avLst>
          </a:prstGeom>
          <a:solidFill>
            <a:srgbClr val="E07A3F"/>
          </a:solidFill>
          <a:ln/>
        </p:spPr>
        <p:txBody>
          <a:bodyPr/>
          <a:lstStyle/>
          <a:p>
            <a:endParaRPr lang="en-DE"/>
          </a:p>
        </p:txBody>
      </p:sp>
      <p:sp>
        <p:nvSpPr>
          <p:cNvPr id="14" name="Text 12"/>
          <p:cNvSpPr/>
          <p:nvPr/>
        </p:nvSpPr>
        <p:spPr>
          <a:xfrm>
            <a:off x="9099550" y="4696520"/>
            <a:ext cx="2112582" cy="355600"/>
          </a:xfrm>
          <a:prstGeom prst="rect">
            <a:avLst/>
          </a:prstGeom>
          <a:noFill/>
          <a:ln/>
        </p:spPr>
        <p:txBody>
          <a:bodyPr wrap="square" lIns="0" tIns="0" rIns="0" bIns="0" rtlCol="0" anchor="t">
            <a:normAutofit/>
          </a:bodyPr>
          <a:lstStyle/>
          <a:p>
            <a:pPr marL="0" indent="0" algn="l">
              <a:lnSpc>
                <a:spcPts val="2600"/>
              </a:lnSpc>
              <a:buNone/>
            </a:pPr>
            <a:endParaRPr lang="en-US" sz="2600" dirty="0"/>
          </a:p>
        </p:txBody>
      </p:sp>
      <p:sp>
        <p:nvSpPr>
          <p:cNvPr id="15" name="Text 13"/>
          <p:cNvSpPr/>
          <p:nvPr/>
        </p:nvSpPr>
        <p:spPr>
          <a:xfrm>
            <a:off x="7461250" y="2706440"/>
            <a:ext cx="2508250" cy="575320"/>
          </a:xfrm>
          <a:prstGeom prst="rect">
            <a:avLst/>
          </a:prstGeom>
          <a:noFill/>
          <a:ln/>
        </p:spPr>
        <p:txBody>
          <a:bodyPr wrap="square" lIns="0" tIns="0" rIns="0" bIns="0" rtlCol="0" anchor="t">
            <a:normAutofit/>
          </a:bodyPr>
          <a:lstStyle/>
          <a:p>
            <a:pPr marL="0" indent="0" algn="l">
              <a:lnSpc>
                <a:spcPts val="1960"/>
              </a:lnSpc>
              <a:buNone/>
            </a:pPr>
            <a:r>
              <a:rPr lang="en-US" sz="2000" dirty="0">
                <a:solidFill>
                  <a:srgbClr val="5C2D0F"/>
                </a:solidFill>
                <a:latin typeface="Inter" pitchFamily="34" charset="0"/>
                <a:ea typeface="Inter" pitchFamily="34" charset="-122"/>
                <a:cs typeface="Inter" pitchFamily="34" charset="-120"/>
              </a:rPr>
              <a:t>Descriptive only.</a:t>
            </a:r>
            <a:endParaRPr lang="en-US" sz="2000" dirty="0"/>
          </a:p>
        </p:txBody>
      </p:sp>
      <p:sp>
        <p:nvSpPr>
          <p:cNvPr id="16" name="Text 1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7806F"/>
                </a:solidFill>
                <a:latin typeface="Inter" pitchFamily="34" charset="0"/>
                <a:ea typeface="Inter" pitchFamily="34" charset="-122"/>
                <a:cs typeface="Inter" pitchFamily="34" charset="-120"/>
              </a:rPr>
              <a:t>Ram Babu · 5 / 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4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nSpc>
                <a:spcPts val="1820"/>
              </a:lnSpc>
            </a:pPr>
            <a:r>
              <a:rPr lang="en-US" sz="1300" b="1" kern="0" spc="300" dirty="0">
                <a:solidFill>
                  <a:srgbClr val="C25D24"/>
                </a:solidFill>
                <a:latin typeface="Inter" pitchFamily="34" charset="0"/>
                <a:ea typeface="Inter" pitchFamily="34" charset="-122"/>
                <a:cs typeface="Inter" pitchFamily="34" charset="-120"/>
              </a:rPr>
              <a:t>H1 — CONFIRMED: </a:t>
            </a:r>
            <a:r>
              <a:rPr lang="en-US" sz="1400" b="1" dirty="0">
                <a:solidFill>
                  <a:srgbClr val="10161B"/>
                </a:solidFill>
                <a:latin typeface="Inter" pitchFamily="34" charset="0"/>
                <a:ea typeface="Inter" pitchFamily="34" charset="-122"/>
                <a:cs typeface="Inter" pitchFamily="34" charset="-120"/>
              </a:rPr>
              <a:t>Waterfront costs more than inland.</a:t>
            </a:r>
            <a:endParaRPr lang="en-US" sz="1400" dirty="0"/>
          </a:p>
          <a:p>
            <a:pPr marL="0" indent="0" algn="l">
              <a:lnSpc>
                <a:spcPts val="1820"/>
              </a:lnSpc>
              <a:buNone/>
            </a:pPr>
            <a:endParaRPr lang="en-US" sz="1300" dirty="0"/>
          </a:p>
        </p:txBody>
      </p:sp>
      <p:sp>
        <p:nvSpPr>
          <p:cNvPr id="3" name="Text 1"/>
          <p:cNvSpPr/>
          <p:nvPr/>
        </p:nvSpPr>
        <p:spPr>
          <a:xfrm>
            <a:off x="812800" y="1247130"/>
            <a:ext cx="1978603" cy="850900"/>
          </a:xfrm>
          <a:prstGeom prst="rect">
            <a:avLst/>
          </a:prstGeom>
          <a:noFill/>
          <a:ln/>
        </p:spPr>
        <p:txBody>
          <a:bodyPr wrap="square" lIns="0" tIns="0" rIns="0" bIns="0" rtlCol="0" anchor="t">
            <a:normAutofit/>
          </a:bodyPr>
          <a:lstStyle/>
          <a:p>
            <a:pPr marL="0" indent="0" algn="l">
              <a:lnSpc>
                <a:spcPts val="6500"/>
              </a:lnSpc>
              <a:buNone/>
            </a:pPr>
            <a:r>
              <a:rPr lang="en-US" sz="6500" dirty="0">
                <a:solidFill>
                  <a:srgbClr val="E07A3F"/>
                </a:solidFill>
                <a:latin typeface="Archivo Black" pitchFamily="34" charset="0"/>
                <a:ea typeface="Archivo Black" pitchFamily="34" charset="-122"/>
                <a:cs typeface="Archivo Black" pitchFamily="34" charset="-120"/>
              </a:rPr>
              <a:t>3.3×</a:t>
            </a:r>
            <a:endParaRPr lang="en-US" sz="6500" dirty="0"/>
          </a:p>
        </p:txBody>
      </p:sp>
      <p:sp>
        <p:nvSpPr>
          <p:cNvPr id="4" name="Text 2"/>
          <p:cNvSpPr/>
          <p:nvPr/>
        </p:nvSpPr>
        <p:spPr>
          <a:xfrm>
            <a:off x="3089374" y="1329680"/>
            <a:ext cx="8538521" cy="6858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10161B"/>
                </a:solidFill>
                <a:latin typeface="Inter" pitchFamily="34" charset="0"/>
                <a:ea typeface="Inter" pitchFamily="34" charset="-122"/>
                <a:cs typeface="Inter" pitchFamily="34" charset="-120"/>
              </a:rPr>
              <a:t>Median on the water: $1.49M. Only 116 of 17,335 homes qualify.</a:t>
            </a:r>
            <a:endParaRPr lang="en-US" sz="2000" dirty="0"/>
          </a:p>
        </p:txBody>
      </p:sp>
      <p:pic>
        <p:nvPicPr>
          <p:cNvPr id="5" name="Image 0" descr="Box plot of house prices by waterfront status"/>
          <p:cNvPicPr>
            <a:picLocks noChangeAspect="1"/>
          </p:cNvPicPr>
          <p:nvPr/>
        </p:nvPicPr>
        <p:blipFill>
          <a:blip r:embed="rId3"/>
          <a:srcRect t="-2525" b="-2525"/>
          <a:stretch/>
        </p:blipFill>
        <p:spPr>
          <a:xfrm>
            <a:off x="812800" y="2275830"/>
            <a:ext cx="4953000" cy="3429000"/>
          </a:xfrm>
          <a:prstGeom prst="rect">
            <a:avLst/>
          </a:prstGeom>
        </p:spPr>
      </p:pic>
      <p:pic>
        <p:nvPicPr>
          <p:cNvPr id="6" name="Image 1" descr="Histogram of prices among waterfront properties"/>
          <p:cNvPicPr>
            <a:picLocks noChangeAspect="1"/>
          </p:cNvPicPr>
          <p:nvPr/>
        </p:nvPicPr>
        <p:blipFill>
          <a:blip r:embed="rId4"/>
          <a:srcRect t="-524" b="-524"/>
          <a:stretch/>
        </p:blipFill>
        <p:spPr>
          <a:xfrm>
            <a:off x="6019800" y="2275830"/>
            <a:ext cx="4953000" cy="3429000"/>
          </a:xfrm>
          <a:prstGeom prst="rect">
            <a:avLst/>
          </a:prstGeom>
        </p:spPr>
      </p:pic>
      <p:sp>
        <p:nvSpPr>
          <p:cNvPr id="7" name="Text 3"/>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7A"/>
                </a:solidFill>
                <a:latin typeface="Inter" pitchFamily="34" charset="0"/>
                <a:ea typeface="Inter" pitchFamily="34" charset="-122"/>
                <a:cs typeface="Inter" pitchFamily="34" charset="-120"/>
              </a:rPr>
              <a:t>Ram Babu · 6 / 9</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ECE3D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nSpc>
                <a:spcPts val="1820"/>
              </a:lnSpc>
            </a:pPr>
            <a:r>
              <a:rPr lang="en-US" sz="1300" b="1" kern="0" spc="300" dirty="0">
                <a:solidFill>
                  <a:srgbClr val="C25D24"/>
                </a:solidFill>
                <a:latin typeface="Inter" pitchFamily="34" charset="0"/>
                <a:ea typeface="Inter" pitchFamily="34" charset="-122"/>
                <a:cs typeface="Inter" pitchFamily="34" charset="-120"/>
              </a:rPr>
              <a:t>H2 — TRUE, BUT NOT A LADDER: </a:t>
            </a:r>
            <a:r>
              <a:rPr lang="en-US" sz="1400" b="1" dirty="0">
                <a:solidFill>
                  <a:srgbClr val="10161B"/>
                </a:solidFill>
                <a:latin typeface="Inter" pitchFamily="34" charset="0"/>
                <a:ea typeface="Inter" pitchFamily="34" charset="-122"/>
                <a:cs typeface="Inter" pitchFamily="34" charset="-120"/>
              </a:rPr>
              <a:t>A better view costs more than a worse one.</a:t>
            </a:r>
            <a:endParaRPr lang="en-US" sz="1400" dirty="0"/>
          </a:p>
          <a:p>
            <a:pPr marL="0" indent="0" algn="l">
              <a:lnSpc>
                <a:spcPts val="1820"/>
              </a:lnSpc>
              <a:buNone/>
            </a:pPr>
            <a:endParaRPr lang="en-US" sz="1300" dirty="0"/>
          </a:p>
        </p:txBody>
      </p:sp>
      <p:sp>
        <p:nvSpPr>
          <p:cNvPr id="3" name="Text 1"/>
          <p:cNvSpPr/>
          <p:nvPr/>
        </p:nvSpPr>
        <p:spPr>
          <a:xfrm>
            <a:off x="812800" y="1272530"/>
            <a:ext cx="10883392" cy="585440"/>
          </a:xfrm>
          <a:prstGeom prst="rect">
            <a:avLst/>
          </a:prstGeom>
          <a:noFill/>
          <a:ln/>
        </p:spPr>
        <p:txBody>
          <a:bodyPr wrap="square" lIns="0" tIns="0" rIns="0" bIns="0" rtlCol="0" anchor="t">
            <a:normAutofit/>
          </a:bodyPr>
          <a:lstStyle/>
          <a:p>
            <a:pPr marL="0" indent="0" algn="l">
              <a:lnSpc>
                <a:spcPts val="4410"/>
              </a:lnSpc>
              <a:buNone/>
            </a:pPr>
            <a:r>
              <a:rPr lang="en-US" sz="4200" dirty="0">
                <a:solidFill>
                  <a:srgbClr val="10161B"/>
                </a:solidFill>
                <a:latin typeface="Archivo Black" pitchFamily="34" charset="0"/>
                <a:ea typeface="Archivo Black" pitchFamily="34" charset="-122"/>
                <a:cs typeface="Archivo Black" pitchFamily="34" charset="-120"/>
              </a:rPr>
              <a:t>Only grade 4 pays.</a:t>
            </a:r>
            <a:endParaRPr lang="en-US" sz="4200" dirty="0"/>
          </a:p>
        </p:txBody>
      </p:sp>
      <p:pic>
        <p:nvPicPr>
          <p:cNvPr id="4" name="Image 0" descr="Bar chart of average house price by view grade 0 to 4"/>
          <p:cNvPicPr>
            <a:picLocks noChangeAspect="1"/>
          </p:cNvPicPr>
          <p:nvPr/>
        </p:nvPicPr>
        <p:blipFill>
          <a:blip r:embed="rId3"/>
          <a:srcRect l="-3117" r="-3117"/>
          <a:stretch/>
        </p:blipFill>
        <p:spPr>
          <a:xfrm>
            <a:off x="812800" y="2061170"/>
            <a:ext cx="5461000" cy="3556000"/>
          </a:xfrm>
          <a:prstGeom prst="rect">
            <a:avLst/>
          </a:prstGeom>
        </p:spPr>
      </p:pic>
      <p:sp>
        <p:nvSpPr>
          <p:cNvPr id="5" name="Text 2"/>
          <p:cNvSpPr/>
          <p:nvPr/>
        </p:nvSpPr>
        <p:spPr>
          <a:xfrm>
            <a:off x="6578600" y="2061170"/>
            <a:ext cx="4944618"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10161B"/>
                </a:solidFill>
                <a:latin typeface="Archivo Black" pitchFamily="34" charset="0"/>
                <a:ea typeface="Archivo Black" pitchFamily="34" charset="-122"/>
                <a:cs typeface="Archivo Black" pitchFamily="34" charset="-120"/>
              </a:rPr>
              <a:t>~$1.45M</a:t>
            </a:r>
            <a:endParaRPr lang="en-US" sz="2800" dirty="0"/>
          </a:p>
        </p:txBody>
      </p:sp>
      <p:sp>
        <p:nvSpPr>
          <p:cNvPr id="6" name="Text 3"/>
          <p:cNvSpPr/>
          <p:nvPr/>
        </p:nvSpPr>
        <p:spPr>
          <a:xfrm>
            <a:off x="6578600" y="2467570"/>
            <a:ext cx="494461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B666B"/>
                </a:solidFill>
                <a:latin typeface="Inter" pitchFamily="34" charset="0"/>
                <a:ea typeface="Inter" pitchFamily="34" charset="-122"/>
                <a:cs typeface="Inter" pitchFamily="34" charset="-120"/>
              </a:rPr>
              <a:t>average at grade 4</a:t>
            </a:r>
            <a:endParaRPr lang="en-US" sz="1500" dirty="0"/>
          </a:p>
        </p:txBody>
      </p:sp>
      <p:sp>
        <p:nvSpPr>
          <p:cNvPr id="9" name="Text 6"/>
          <p:cNvSpPr/>
          <p:nvPr/>
        </p:nvSpPr>
        <p:spPr>
          <a:xfrm>
            <a:off x="6578600" y="3406775"/>
            <a:ext cx="4944618"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C25D24"/>
                </a:solidFill>
                <a:latin typeface="Archivo Black" pitchFamily="34" charset="0"/>
                <a:ea typeface="Archivo Black" pitchFamily="34" charset="-122"/>
                <a:cs typeface="Archivo Black" pitchFamily="34" charset="-120"/>
              </a:rPr>
              <a:t>Skip 1–3</a:t>
            </a:r>
            <a:endParaRPr lang="en-US" sz="2800" dirty="0"/>
          </a:p>
        </p:txBody>
      </p:sp>
      <p:sp>
        <p:nvSpPr>
          <p:cNvPr id="10" name="Text 7"/>
          <p:cNvSpPr/>
          <p:nvPr/>
        </p:nvSpPr>
        <p:spPr>
          <a:xfrm>
            <a:off x="6578600" y="3838872"/>
            <a:ext cx="494461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B666B"/>
                </a:solidFill>
                <a:latin typeface="Inter" pitchFamily="34" charset="0"/>
                <a:ea typeface="Inter" pitchFamily="34" charset="-122"/>
                <a:cs typeface="Inter" pitchFamily="34" charset="-120"/>
              </a:rPr>
              <a:t>the middle of the scale buys nothing</a:t>
            </a:r>
            <a:endParaRPr lang="en-US" sz="1500" dirty="0"/>
          </a:p>
        </p:txBody>
      </p:sp>
      <p:sp>
        <p:nvSpPr>
          <p:cNvPr id="11" name="Text 8"/>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7806F"/>
                </a:solidFill>
                <a:latin typeface="Inter" pitchFamily="34" charset="0"/>
                <a:ea typeface="Inter" pitchFamily="34" charset="-122"/>
                <a:cs typeface="Inter" pitchFamily="34" charset="-120"/>
              </a:rPr>
              <a:t>Ram Babu · 7 / 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0E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nSpc>
                <a:spcPts val="1820"/>
              </a:lnSpc>
            </a:pPr>
            <a:r>
              <a:rPr lang="en-US" sz="1300" b="1" kern="0" spc="300" dirty="0">
                <a:solidFill>
                  <a:srgbClr val="C25D24"/>
                </a:solidFill>
                <a:latin typeface="Inter" pitchFamily="34" charset="0"/>
                <a:ea typeface="Inter" pitchFamily="34" charset="-122"/>
                <a:cs typeface="Inter" pitchFamily="34" charset="-120"/>
              </a:rPr>
              <a:t>H3 — DIRECTIONALLY YES : </a:t>
            </a:r>
            <a:r>
              <a:rPr lang="en-US" sz="1400" b="1" dirty="0">
                <a:solidFill>
                  <a:srgbClr val="10161B"/>
                </a:solidFill>
                <a:latin typeface="Inter" pitchFamily="34" charset="0"/>
                <a:ea typeface="Inter" pitchFamily="34" charset="-122"/>
                <a:cs typeface="Inter" pitchFamily="34" charset="-120"/>
              </a:rPr>
              <a:t>The posh houses sit outside the city-</a:t>
            </a:r>
            <a:r>
              <a:rPr lang="en-US" sz="1400" b="1" dirty="0" err="1">
                <a:solidFill>
                  <a:srgbClr val="10161B"/>
                </a:solidFill>
                <a:latin typeface="Inter" pitchFamily="34" charset="0"/>
                <a:ea typeface="Inter" pitchFamily="34" charset="-122"/>
                <a:cs typeface="Inter" pitchFamily="34" charset="-120"/>
              </a:rPr>
              <a:t>centre</a:t>
            </a:r>
            <a:r>
              <a:rPr lang="en-US" sz="1400" b="1" dirty="0">
                <a:solidFill>
                  <a:srgbClr val="10161B"/>
                </a:solidFill>
                <a:latin typeface="Inter" pitchFamily="34" charset="0"/>
                <a:ea typeface="Inter" pitchFamily="34" charset="-122"/>
                <a:cs typeface="Inter" pitchFamily="34" charset="-120"/>
              </a:rPr>
              <a:t>.</a:t>
            </a:r>
            <a:endParaRPr lang="en-US" sz="1400" dirty="0"/>
          </a:p>
          <a:p>
            <a:pPr marL="0" indent="0" algn="l">
              <a:lnSpc>
                <a:spcPts val="1820"/>
              </a:lnSpc>
              <a:buNone/>
            </a:pPr>
            <a:endParaRPr lang="en-US" sz="1300" dirty="0"/>
          </a:p>
        </p:txBody>
      </p:sp>
      <p:sp>
        <p:nvSpPr>
          <p:cNvPr id="3" name="Text 1"/>
          <p:cNvSpPr/>
          <p:nvPr/>
        </p:nvSpPr>
        <p:spPr>
          <a:xfrm>
            <a:off x="812800" y="1272530"/>
            <a:ext cx="10883392" cy="585440"/>
          </a:xfrm>
          <a:prstGeom prst="rect">
            <a:avLst/>
          </a:prstGeom>
          <a:noFill/>
          <a:ln/>
        </p:spPr>
        <p:txBody>
          <a:bodyPr wrap="square" lIns="0" tIns="0" rIns="0" bIns="0" rtlCol="0" anchor="t">
            <a:normAutofit/>
          </a:bodyPr>
          <a:lstStyle/>
          <a:p>
            <a:pPr marL="0" indent="0" algn="l">
              <a:lnSpc>
                <a:spcPts val="4410"/>
              </a:lnSpc>
              <a:buNone/>
            </a:pPr>
            <a:r>
              <a:rPr lang="en-US" sz="4200" dirty="0">
                <a:solidFill>
                  <a:srgbClr val="10161B"/>
                </a:solidFill>
                <a:latin typeface="Archivo Black" pitchFamily="34" charset="0"/>
                <a:ea typeface="Archivo Black" pitchFamily="34" charset="-122"/>
                <a:cs typeface="Archivo Black" pitchFamily="34" charset="-120"/>
              </a:rPr>
              <a:t>An arc, not a ring.</a:t>
            </a:r>
            <a:endParaRPr lang="en-US" sz="4200" dirty="0"/>
          </a:p>
        </p:txBody>
      </p:sp>
      <p:pic>
        <p:nvPicPr>
          <p:cNvPr id="4" name="Image 0" descr="Scatter map of houses by distance from the reference point, top one percent of sales in red, with a 5 km ring"/>
          <p:cNvPicPr>
            <a:picLocks noChangeAspect="1"/>
          </p:cNvPicPr>
          <p:nvPr/>
        </p:nvPicPr>
        <p:blipFill>
          <a:blip r:embed="rId3"/>
          <a:srcRect l="-1704" r="-1704"/>
          <a:stretch/>
        </p:blipFill>
        <p:spPr>
          <a:xfrm>
            <a:off x="812800" y="2061170"/>
            <a:ext cx="5461000" cy="3556000"/>
          </a:xfrm>
          <a:prstGeom prst="rect">
            <a:avLst/>
          </a:prstGeom>
        </p:spPr>
      </p:pic>
      <p:sp>
        <p:nvSpPr>
          <p:cNvPr id="5" name="Text 2"/>
          <p:cNvSpPr/>
          <p:nvPr/>
        </p:nvSpPr>
        <p:spPr>
          <a:xfrm>
            <a:off x="6578600" y="2061170"/>
            <a:ext cx="4944618"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10161B"/>
                </a:solidFill>
                <a:latin typeface="Archivo Black" pitchFamily="34" charset="0"/>
                <a:ea typeface="Archivo Black" pitchFamily="34" charset="-122"/>
                <a:cs typeface="Archivo Black" pitchFamily="34" charset="-120"/>
              </a:rPr>
              <a:t>5–20 km</a:t>
            </a:r>
            <a:endParaRPr lang="en-US" sz="2800" dirty="0"/>
          </a:p>
        </p:txBody>
      </p:sp>
      <p:sp>
        <p:nvSpPr>
          <p:cNvPr id="6" name="Text 3"/>
          <p:cNvSpPr/>
          <p:nvPr/>
        </p:nvSpPr>
        <p:spPr>
          <a:xfrm>
            <a:off x="6578600" y="2467570"/>
            <a:ext cx="494461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B666B"/>
                </a:solidFill>
                <a:latin typeface="Inter" pitchFamily="34" charset="0"/>
                <a:ea typeface="Inter" pitchFamily="34" charset="-122"/>
                <a:cs typeface="Inter" pitchFamily="34" charset="-120"/>
              </a:rPr>
              <a:t>north and north-west — where the $1.97M+ sales sit</a:t>
            </a:r>
            <a:endParaRPr lang="en-US" sz="1500" dirty="0"/>
          </a:p>
        </p:txBody>
      </p:sp>
      <p:sp>
        <p:nvSpPr>
          <p:cNvPr id="7" name="Text 4"/>
          <p:cNvSpPr/>
          <p:nvPr/>
        </p:nvSpPr>
        <p:spPr>
          <a:xfrm>
            <a:off x="6578600" y="2962870"/>
            <a:ext cx="4944618" cy="381000"/>
          </a:xfrm>
          <a:prstGeom prst="rect">
            <a:avLst/>
          </a:prstGeom>
          <a:noFill/>
          <a:ln/>
        </p:spPr>
        <p:txBody>
          <a:bodyPr wrap="square" lIns="0" tIns="0" rIns="0" bIns="0" rtlCol="0" anchor="t">
            <a:normAutofit/>
          </a:bodyPr>
          <a:lstStyle/>
          <a:p>
            <a:pPr marL="0" indent="0" algn="l">
              <a:lnSpc>
                <a:spcPts val="2800"/>
              </a:lnSpc>
              <a:buNone/>
            </a:pPr>
            <a:r>
              <a:rPr lang="en-US" sz="2800" dirty="0">
                <a:solidFill>
                  <a:srgbClr val="10161B"/>
                </a:solidFill>
                <a:latin typeface="Archivo Black" pitchFamily="34" charset="0"/>
                <a:ea typeface="Archivo Black" pitchFamily="34" charset="-122"/>
                <a:cs typeface="Archivo Black" pitchFamily="34" charset="-120"/>
              </a:rPr>
              <a:t>99%</a:t>
            </a:r>
            <a:endParaRPr lang="en-US" sz="2800" dirty="0"/>
          </a:p>
        </p:txBody>
      </p:sp>
      <p:sp>
        <p:nvSpPr>
          <p:cNvPr id="8" name="Text 5"/>
          <p:cNvSpPr/>
          <p:nvPr/>
        </p:nvSpPr>
        <p:spPr>
          <a:xfrm>
            <a:off x="6578600" y="3369270"/>
            <a:ext cx="494461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5B666B"/>
                </a:solidFill>
                <a:latin typeface="Inter" pitchFamily="34" charset="0"/>
                <a:ea typeface="Inter" pitchFamily="34" charset="-122"/>
                <a:cs typeface="Inter" pitchFamily="34" charset="-120"/>
              </a:rPr>
              <a:t>of all homes fall outside the ring</a:t>
            </a:r>
            <a:endParaRPr lang="en-US" sz="1500" dirty="0"/>
          </a:p>
        </p:txBody>
      </p:sp>
      <p:sp>
        <p:nvSpPr>
          <p:cNvPr id="10" name="Text 7"/>
          <p:cNvSpPr/>
          <p:nvPr/>
        </p:nvSpPr>
        <p:spPr>
          <a:xfrm>
            <a:off x="6578600" y="4270970"/>
            <a:ext cx="4944618" cy="292100"/>
          </a:xfrm>
          <a:prstGeom prst="rect">
            <a:avLst/>
          </a:prstGeom>
          <a:noFill/>
          <a:ln/>
        </p:spPr>
        <p:txBody>
          <a:bodyPr wrap="square" lIns="0" tIns="0" rIns="0" bIns="0" rtlCol="0" anchor="t">
            <a:normAutofit/>
          </a:bodyPr>
          <a:lstStyle/>
          <a:p>
            <a:pPr marL="0" indent="0" algn="l">
              <a:lnSpc>
                <a:spcPts val="2100"/>
              </a:lnSpc>
              <a:buNone/>
            </a:pPr>
            <a:endParaRPr lang="en-US" sz="1500" dirty="0"/>
          </a:p>
        </p:txBody>
      </p:sp>
      <p:sp>
        <p:nvSpPr>
          <p:cNvPr id="11" name="Text 8"/>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37A"/>
                </a:solidFill>
                <a:latin typeface="Inter" pitchFamily="34" charset="0"/>
                <a:ea typeface="Inter" pitchFamily="34" charset="-122"/>
                <a:cs typeface="Inter" pitchFamily="34" charset="-120"/>
              </a:rPr>
              <a:t>Ram Babu · 8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E07A3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b="1" kern="0" spc="300" dirty="0">
                <a:solidFill>
                  <a:srgbClr val="5C2D0F"/>
                </a:solidFill>
                <a:latin typeface="Inter" pitchFamily="34" charset="0"/>
                <a:ea typeface="Inter" pitchFamily="34" charset="-122"/>
                <a:cs typeface="Inter" pitchFamily="34" charset="-120"/>
              </a:rPr>
              <a:t>THE NEXT 30 DAYS</a:t>
            </a:r>
            <a:endParaRPr lang="en-US" sz="1300" dirty="0"/>
          </a:p>
        </p:txBody>
      </p:sp>
      <p:sp>
        <p:nvSpPr>
          <p:cNvPr id="3" name="Text 1"/>
          <p:cNvSpPr/>
          <p:nvPr/>
        </p:nvSpPr>
        <p:spPr>
          <a:xfrm>
            <a:off x="812800" y="1345605"/>
            <a:ext cx="10883392" cy="532110"/>
          </a:xfrm>
          <a:prstGeom prst="rect">
            <a:avLst/>
          </a:prstGeom>
          <a:noFill/>
          <a:ln/>
        </p:spPr>
        <p:txBody>
          <a:bodyPr wrap="square" lIns="0" tIns="0" rIns="0" bIns="0" rtlCol="0" anchor="t">
            <a:normAutofit/>
          </a:bodyPr>
          <a:lstStyle/>
          <a:p>
            <a:pPr marL="0" indent="0" algn="l">
              <a:lnSpc>
                <a:spcPts val="3990"/>
              </a:lnSpc>
              <a:buNone/>
            </a:pPr>
            <a:r>
              <a:rPr lang="en-US" sz="3800" dirty="0">
                <a:solidFill>
                  <a:srgbClr val="10161B"/>
                </a:solidFill>
                <a:latin typeface="Archivo Black" pitchFamily="34" charset="0"/>
                <a:ea typeface="Archivo Black" pitchFamily="34" charset="-122"/>
                <a:cs typeface="Archivo Black" pitchFamily="34" charset="-120"/>
              </a:rPr>
              <a:t>Three moves.</a:t>
            </a:r>
            <a:endParaRPr lang="en-US" sz="3800" dirty="0"/>
          </a:p>
        </p:txBody>
      </p:sp>
      <p:sp>
        <p:nvSpPr>
          <p:cNvPr id="4" name="Shape 2"/>
          <p:cNvSpPr/>
          <p:nvPr/>
        </p:nvSpPr>
        <p:spPr>
          <a:xfrm>
            <a:off x="812800" y="2153989"/>
            <a:ext cx="10566400" cy="1127720"/>
          </a:xfrm>
          <a:prstGeom prst="roundRect">
            <a:avLst>
              <a:gd name="adj" fmla="val 11262"/>
            </a:avLst>
          </a:prstGeom>
          <a:solidFill>
            <a:srgbClr val="FFFFFF"/>
          </a:solidFill>
          <a:ln/>
        </p:spPr>
        <p:txBody>
          <a:bodyPr/>
          <a:lstStyle/>
          <a:p>
            <a:endParaRPr lang="en-DE"/>
          </a:p>
        </p:txBody>
      </p:sp>
      <p:sp>
        <p:nvSpPr>
          <p:cNvPr id="5" name="Text 3"/>
          <p:cNvSpPr/>
          <p:nvPr/>
        </p:nvSpPr>
        <p:spPr>
          <a:xfrm>
            <a:off x="1092200" y="2514650"/>
            <a:ext cx="622300" cy="431800"/>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E07A3F"/>
                </a:solidFill>
                <a:latin typeface="Archivo Black" pitchFamily="34" charset="0"/>
                <a:ea typeface="Archivo Black" pitchFamily="34" charset="-122"/>
                <a:cs typeface="Archivo Black" pitchFamily="34" charset="-120"/>
              </a:rPr>
              <a:t>01</a:t>
            </a:r>
            <a:endParaRPr lang="en-US" sz="3200" dirty="0"/>
          </a:p>
        </p:txBody>
      </p:sp>
      <p:sp>
        <p:nvSpPr>
          <p:cNvPr id="6" name="Text 4"/>
          <p:cNvSpPr/>
          <p:nvPr/>
        </p:nvSpPr>
        <p:spPr>
          <a:xfrm>
            <a:off x="1943100" y="2407989"/>
            <a:ext cx="9431401" cy="345430"/>
          </a:xfrm>
          <a:prstGeom prst="rect">
            <a:avLst/>
          </a:prstGeom>
          <a:noFill/>
          <a:ln/>
        </p:spPr>
        <p:txBody>
          <a:bodyPr wrap="square" lIns="0" tIns="0" rIns="0" bIns="0" rtlCol="0" anchor="t">
            <a:normAutofit/>
          </a:bodyPr>
          <a:lstStyle/>
          <a:p>
            <a:pPr marL="0" indent="0" algn="l">
              <a:lnSpc>
                <a:spcPts val="2520"/>
              </a:lnSpc>
              <a:buNone/>
            </a:pPr>
            <a:r>
              <a:rPr lang="en-US" sz="2100" b="1" dirty="0">
                <a:solidFill>
                  <a:srgbClr val="10161B"/>
                </a:solidFill>
                <a:latin typeface="Inter" pitchFamily="34" charset="0"/>
                <a:ea typeface="Inter" pitchFamily="34" charset="-122"/>
                <a:cs typeface="Inter" pitchFamily="34" charset="-120"/>
              </a:rPr>
              <a:t>Grade 4, or walk away.</a:t>
            </a:r>
            <a:endParaRPr lang="en-US" sz="2100" dirty="0"/>
          </a:p>
        </p:txBody>
      </p:sp>
      <p:sp>
        <p:nvSpPr>
          <p:cNvPr id="7" name="Text 5"/>
          <p:cNvSpPr/>
          <p:nvPr/>
        </p:nvSpPr>
        <p:spPr>
          <a:xfrm>
            <a:off x="1943100" y="2778820"/>
            <a:ext cx="943140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A waterfront address without the view is an ordinary house.</a:t>
            </a:r>
            <a:endParaRPr lang="en-US" sz="1400" dirty="0"/>
          </a:p>
        </p:txBody>
      </p:sp>
      <p:sp>
        <p:nvSpPr>
          <p:cNvPr id="8" name="Shape 6"/>
          <p:cNvSpPr/>
          <p:nvPr/>
        </p:nvSpPr>
        <p:spPr>
          <a:xfrm>
            <a:off x="812800" y="3434110"/>
            <a:ext cx="10566400" cy="1127720"/>
          </a:xfrm>
          <a:prstGeom prst="roundRect">
            <a:avLst>
              <a:gd name="adj" fmla="val 11262"/>
            </a:avLst>
          </a:prstGeom>
          <a:solidFill>
            <a:srgbClr val="FFFFFF"/>
          </a:solidFill>
          <a:ln/>
        </p:spPr>
        <p:txBody>
          <a:bodyPr/>
          <a:lstStyle/>
          <a:p>
            <a:endParaRPr lang="en-DE"/>
          </a:p>
        </p:txBody>
      </p:sp>
      <p:sp>
        <p:nvSpPr>
          <p:cNvPr id="9" name="Text 7"/>
          <p:cNvSpPr/>
          <p:nvPr/>
        </p:nvSpPr>
        <p:spPr>
          <a:xfrm>
            <a:off x="1092200" y="3794770"/>
            <a:ext cx="622300" cy="431800"/>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E07A3F"/>
                </a:solidFill>
                <a:latin typeface="Archivo Black" pitchFamily="34" charset="0"/>
                <a:ea typeface="Archivo Black" pitchFamily="34" charset="-122"/>
                <a:cs typeface="Archivo Black" pitchFamily="34" charset="-120"/>
              </a:rPr>
              <a:t>02</a:t>
            </a:r>
            <a:endParaRPr lang="en-US" sz="3200" dirty="0"/>
          </a:p>
        </p:txBody>
      </p:sp>
      <p:sp>
        <p:nvSpPr>
          <p:cNvPr id="10" name="Text 8"/>
          <p:cNvSpPr/>
          <p:nvPr/>
        </p:nvSpPr>
        <p:spPr>
          <a:xfrm>
            <a:off x="1943100" y="3688110"/>
            <a:ext cx="9431401" cy="345430"/>
          </a:xfrm>
          <a:prstGeom prst="rect">
            <a:avLst/>
          </a:prstGeom>
          <a:noFill/>
          <a:ln/>
        </p:spPr>
        <p:txBody>
          <a:bodyPr wrap="square" lIns="0" tIns="0" rIns="0" bIns="0" rtlCol="0" anchor="t">
            <a:normAutofit/>
          </a:bodyPr>
          <a:lstStyle/>
          <a:p>
            <a:pPr marL="0" indent="0" algn="l">
              <a:lnSpc>
                <a:spcPts val="2520"/>
              </a:lnSpc>
              <a:buNone/>
            </a:pPr>
            <a:r>
              <a:rPr lang="en-US" sz="2100" b="1" dirty="0">
                <a:solidFill>
                  <a:srgbClr val="10161B"/>
                </a:solidFill>
                <a:latin typeface="Inter" pitchFamily="34" charset="0"/>
                <a:ea typeface="Inter" pitchFamily="34" charset="-122"/>
                <a:cs typeface="Inter" pitchFamily="34" charset="-120"/>
              </a:rPr>
              <a:t>Hunt the northern arc.</a:t>
            </a:r>
            <a:endParaRPr lang="en-US" sz="2100" dirty="0"/>
          </a:p>
        </p:txBody>
      </p:sp>
      <p:sp>
        <p:nvSpPr>
          <p:cNvPr id="11" name="Text 9"/>
          <p:cNvSpPr/>
          <p:nvPr/>
        </p:nvSpPr>
        <p:spPr>
          <a:xfrm>
            <a:off x="1943100" y="4058940"/>
            <a:ext cx="943140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cs typeface="Inter" pitchFamily="34" charset="-120"/>
              </a:rPr>
              <a:t>Resale in a year needs buyers already looking there.</a:t>
            </a:r>
            <a:endParaRPr lang="en-US" sz="1400" dirty="0"/>
          </a:p>
        </p:txBody>
      </p:sp>
      <p:sp>
        <p:nvSpPr>
          <p:cNvPr id="12" name="Shape 10"/>
          <p:cNvSpPr/>
          <p:nvPr/>
        </p:nvSpPr>
        <p:spPr>
          <a:xfrm>
            <a:off x="812800" y="4714230"/>
            <a:ext cx="10566400" cy="1127720"/>
          </a:xfrm>
          <a:prstGeom prst="roundRect">
            <a:avLst>
              <a:gd name="adj" fmla="val 11262"/>
            </a:avLst>
          </a:prstGeom>
          <a:solidFill>
            <a:srgbClr val="FFFFFF"/>
          </a:solidFill>
          <a:ln/>
        </p:spPr>
        <p:txBody>
          <a:bodyPr/>
          <a:lstStyle/>
          <a:p>
            <a:endParaRPr lang="en-DE"/>
          </a:p>
        </p:txBody>
      </p:sp>
      <p:sp>
        <p:nvSpPr>
          <p:cNvPr id="13" name="Text 11"/>
          <p:cNvSpPr/>
          <p:nvPr/>
        </p:nvSpPr>
        <p:spPr>
          <a:xfrm>
            <a:off x="1092200" y="5074890"/>
            <a:ext cx="622300" cy="431800"/>
          </a:xfrm>
          <a:prstGeom prst="rect">
            <a:avLst/>
          </a:prstGeom>
          <a:noFill/>
          <a:ln/>
        </p:spPr>
        <p:txBody>
          <a:bodyPr wrap="square" lIns="0" tIns="0" rIns="0" bIns="0" rtlCol="0" anchor="t">
            <a:normAutofit/>
          </a:bodyPr>
          <a:lstStyle/>
          <a:p>
            <a:pPr marL="0" indent="0" algn="l">
              <a:lnSpc>
                <a:spcPts val="3200"/>
              </a:lnSpc>
              <a:buNone/>
            </a:pPr>
            <a:r>
              <a:rPr lang="en-US" sz="3200" dirty="0">
                <a:solidFill>
                  <a:srgbClr val="E07A3F"/>
                </a:solidFill>
                <a:latin typeface="Archivo Black" pitchFamily="34" charset="0"/>
                <a:ea typeface="Archivo Black" pitchFamily="34" charset="-122"/>
                <a:cs typeface="Archivo Black" pitchFamily="34" charset="-120"/>
              </a:rPr>
              <a:t>03</a:t>
            </a:r>
            <a:endParaRPr lang="en-US" sz="3200" dirty="0"/>
          </a:p>
        </p:txBody>
      </p:sp>
      <p:sp>
        <p:nvSpPr>
          <p:cNvPr id="14" name="Text 12"/>
          <p:cNvSpPr/>
          <p:nvPr/>
        </p:nvSpPr>
        <p:spPr>
          <a:xfrm>
            <a:off x="1943100" y="4968230"/>
            <a:ext cx="9431401" cy="345430"/>
          </a:xfrm>
          <a:prstGeom prst="rect">
            <a:avLst/>
          </a:prstGeom>
          <a:noFill/>
          <a:ln/>
        </p:spPr>
        <p:txBody>
          <a:bodyPr wrap="square" lIns="0" tIns="0" rIns="0" bIns="0" rtlCol="0" anchor="t">
            <a:normAutofit/>
          </a:bodyPr>
          <a:lstStyle/>
          <a:p>
            <a:pPr marL="0" indent="0" algn="l">
              <a:lnSpc>
                <a:spcPts val="2520"/>
              </a:lnSpc>
              <a:buNone/>
            </a:pPr>
            <a:r>
              <a:rPr lang="en-US" sz="2100" b="1" dirty="0">
                <a:solidFill>
                  <a:srgbClr val="10161B"/>
                </a:solidFill>
                <a:latin typeface="Inter" pitchFamily="34" charset="0"/>
                <a:ea typeface="Inter" pitchFamily="34" charset="-122"/>
                <a:cs typeface="Inter" pitchFamily="34" charset="-120"/>
              </a:rPr>
              <a:t>Waterfront with views</a:t>
            </a:r>
            <a:endParaRPr lang="en-US" sz="2100" dirty="0"/>
          </a:p>
        </p:txBody>
      </p:sp>
      <p:sp>
        <p:nvSpPr>
          <p:cNvPr id="15" name="Text 13"/>
          <p:cNvSpPr/>
          <p:nvPr/>
        </p:nvSpPr>
        <p:spPr>
          <a:xfrm>
            <a:off x="1943100" y="5339060"/>
            <a:ext cx="943140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B666B"/>
                </a:solidFill>
                <a:latin typeface="Inter" pitchFamily="34" charset="0"/>
                <a:ea typeface="Inter" pitchFamily="34" charset="-122"/>
              </a:rPr>
              <a:t>Away from city center with waterfront views</a:t>
            </a:r>
            <a:endParaRPr lang="en-US" sz="1400" dirty="0"/>
          </a:p>
        </p:txBody>
      </p:sp>
      <p:sp>
        <p:nvSpPr>
          <p:cNvPr id="16" name="Text 1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2D0F"/>
                </a:solidFill>
                <a:latin typeface="Inter" pitchFamily="34" charset="0"/>
                <a:ea typeface="Inter" pitchFamily="34" charset="-122"/>
                <a:cs typeface="Inter" pitchFamily="34" charset="-120"/>
              </a:rPr>
              <a:t>Ram babu · 9 / 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1254</Words>
  <Application>Microsoft Macintosh PowerPoint</Application>
  <PresentationFormat>Widescreen</PresentationFormat>
  <Paragraphs>101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Archivo Black</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High-End Acquisition Strategy — Jennifer Montgomery</dc:title>
  <dc:subject>PptxGenJS Presentation</dc:subject>
  <dc:creator>PptxGenJS</dc:creator>
  <cp:lastModifiedBy>Rambabu Gupta</cp:lastModifiedBy>
  <cp:revision>4</cp:revision>
  <dcterms:created xsi:type="dcterms:W3CDTF">2026-09-18T06:53:56Z</dcterms:created>
  <dcterms:modified xsi:type="dcterms:W3CDTF">2026-09-18T07:29:50Z</dcterms:modified>
</cp:coreProperties>
</file>